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ns" charset="1" panose="00000000000000000000"/>
      <p:regular r:id="rId19"/>
    </p:embeddedFont>
    <p:embeddedFont>
      <p:font typeface="Sugo Display" charset="1" panose="02000506020000020004"/>
      <p:regular r:id="rId20"/>
    </p:embeddedFont>
    <p:embeddedFont>
      <p:font typeface="Open Sans Bold Italics" charset="1" panose="00000000000000000000"/>
      <p:regular r:id="rId21"/>
    </p:embeddedFont>
    <p:embeddedFont>
      <p:font typeface="Open Sans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 Id="rId9" Target="../media/image4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49.png" Type="http://schemas.openxmlformats.org/officeDocument/2006/relationships/image"/><Relationship Id="rId15" Target="../media/image5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sp>
        <p:nvSpPr>
          <p:cNvPr name="Freeform 2" id="2"/>
          <p:cNvSpPr/>
          <p:nvPr/>
        </p:nvSpPr>
        <p:spPr>
          <a:xfrm flipH="false" flipV="false" rot="0">
            <a:off x="3048679" y="1434044"/>
            <a:ext cx="12190642" cy="7177240"/>
          </a:xfrm>
          <a:custGeom>
            <a:avLst/>
            <a:gdLst/>
            <a:ahLst/>
            <a:cxnLst/>
            <a:rect r="r" b="b" t="t" l="l"/>
            <a:pathLst>
              <a:path h="7177240" w="12190642">
                <a:moveTo>
                  <a:pt x="0" y="0"/>
                </a:moveTo>
                <a:lnTo>
                  <a:pt x="12190642" y="0"/>
                </a:lnTo>
                <a:lnTo>
                  <a:pt x="12190642" y="7177241"/>
                </a:lnTo>
                <a:lnTo>
                  <a:pt x="0" y="71772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5047729" y="6741570"/>
            <a:ext cx="8192541" cy="831692"/>
            <a:chOff x="0" y="0"/>
            <a:chExt cx="2157706" cy="219046"/>
          </a:xfrm>
        </p:grpSpPr>
        <p:sp>
          <p:nvSpPr>
            <p:cNvPr name="Freeform 4" id="4"/>
            <p:cNvSpPr/>
            <p:nvPr/>
          </p:nvSpPr>
          <p:spPr>
            <a:xfrm flipH="false" flipV="false" rot="0">
              <a:off x="0" y="0"/>
              <a:ext cx="2157706" cy="219046"/>
            </a:xfrm>
            <a:custGeom>
              <a:avLst/>
              <a:gdLst/>
              <a:ahLst/>
              <a:cxnLst/>
              <a:rect r="r" b="b" t="t" l="l"/>
              <a:pathLst>
                <a:path h="219046" w="2157706">
                  <a:moveTo>
                    <a:pt x="36855" y="0"/>
                  </a:moveTo>
                  <a:lnTo>
                    <a:pt x="2120851" y="0"/>
                  </a:lnTo>
                  <a:cubicBezTo>
                    <a:pt x="2141206" y="0"/>
                    <a:pt x="2157706" y="16500"/>
                    <a:pt x="2157706" y="36855"/>
                  </a:cubicBezTo>
                  <a:lnTo>
                    <a:pt x="2157706" y="182192"/>
                  </a:lnTo>
                  <a:cubicBezTo>
                    <a:pt x="2157706" y="191966"/>
                    <a:pt x="2153823" y="201340"/>
                    <a:pt x="2146912" y="208252"/>
                  </a:cubicBezTo>
                  <a:cubicBezTo>
                    <a:pt x="2140000" y="215164"/>
                    <a:pt x="2130626" y="219046"/>
                    <a:pt x="2120851" y="219046"/>
                  </a:cubicBezTo>
                  <a:lnTo>
                    <a:pt x="36855" y="219046"/>
                  </a:lnTo>
                  <a:cubicBezTo>
                    <a:pt x="27080" y="219046"/>
                    <a:pt x="17706" y="215164"/>
                    <a:pt x="10795" y="208252"/>
                  </a:cubicBezTo>
                  <a:cubicBezTo>
                    <a:pt x="3883" y="201340"/>
                    <a:pt x="0" y="191966"/>
                    <a:pt x="0" y="182192"/>
                  </a:cubicBezTo>
                  <a:lnTo>
                    <a:pt x="0" y="36855"/>
                  </a:lnTo>
                  <a:cubicBezTo>
                    <a:pt x="0" y="27080"/>
                    <a:pt x="3883" y="17706"/>
                    <a:pt x="10795" y="10795"/>
                  </a:cubicBezTo>
                  <a:cubicBezTo>
                    <a:pt x="17706" y="3883"/>
                    <a:pt x="27080" y="0"/>
                    <a:pt x="36855" y="0"/>
                  </a:cubicBezTo>
                  <a:close/>
                </a:path>
              </a:pathLst>
            </a:custGeom>
            <a:solidFill>
              <a:srgbClr val="478ACB"/>
            </a:solidFill>
            <a:ln w="38100" cap="rnd">
              <a:solidFill>
                <a:srgbClr val="074785"/>
              </a:solidFill>
              <a:prstDash val="solid"/>
              <a:round/>
            </a:ln>
          </p:spPr>
        </p:sp>
        <p:sp>
          <p:nvSpPr>
            <p:cNvPr name="TextBox 5" id="5"/>
            <p:cNvSpPr txBox="true"/>
            <p:nvPr/>
          </p:nvSpPr>
          <p:spPr>
            <a:xfrm>
              <a:off x="0" y="-47625"/>
              <a:ext cx="2157706" cy="266671"/>
            </a:xfrm>
            <a:prstGeom prst="rect">
              <a:avLst/>
            </a:prstGeom>
          </p:spPr>
          <p:txBody>
            <a:bodyPr anchor="ctr" rtlCol="false" tIns="50800" lIns="50800" bIns="50800" rIns="50800"/>
            <a:lstStyle/>
            <a:p>
              <a:pPr algn="ctr" marL="0" indent="0" lvl="0">
                <a:lnSpc>
                  <a:spcPts val="4180"/>
                </a:lnSpc>
                <a:spcBef>
                  <a:spcPct val="0"/>
                </a:spcBef>
              </a:pPr>
              <a:r>
                <a:rPr lang="en-US" sz="3029" strike="noStrike" u="none">
                  <a:solidFill>
                    <a:srgbClr val="E9F4FF"/>
                  </a:solidFill>
                  <a:latin typeface="Open Sans"/>
                  <a:ea typeface="Open Sans"/>
                  <a:cs typeface="Open Sans"/>
                  <a:sym typeface="Open Sans"/>
                </a:rPr>
                <a:t>Rubén Mora</a:t>
              </a:r>
            </a:p>
          </p:txBody>
        </p:sp>
      </p:grpSp>
      <p:sp>
        <p:nvSpPr>
          <p:cNvPr name="TextBox 6" id="6"/>
          <p:cNvSpPr txBox="true"/>
          <p:nvPr/>
        </p:nvSpPr>
        <p:spPr>
          <a:xfrm rot="0">
            <a:off x="3555549" y="4289763"/>
            <a:ext cx="11176901" cy="2262936"/>
          </a:xfrm>
          <a:prstGeom prst="rect">
            <a:avLst/>
          </a:prstGeom>
        </p:spPr>
        <p:txBody>
          <a:bodyPr anchor="t" rtlCol="false" tIns="0" lIns="0" bIns="0" rIns="0">
            <a:spAutoFit/>
          </a:bodyPr>
          <a:lstStyle/>
          <a:p>
            <a:pPr algn="ctr" marL="0" indent="0" lvl="0">
              <a:lnSpc>
                <a:spcPts val="17061"/>
              </a:lnSpc>
            </a:pPr>
            <a:r>
              <a:rPr lang="en-US" sz="15652" spc="1158" strike="noStrike" u="none">
                <a:solidFill>
                  <a:srgbClr val="074785"/>
                </a:solidFill>
                <a:latin typeface="Sugo Display"/>
                <a:ea typeface="Sugo Display"/>
                <a:cs typeface="Sugo Display"/>
                <a:sym typeface="Sugo Display"/>
              </a:rPr>
              <a:t>Videojuegos</a:t>
            </a:r>
          </a:p>
        </p:txBody>
      </p:sp>
      <p:sp>
        <p:nvSpPr>
          <p:cNvPr name="Freeform 7" id="7"/>
          <p:cNvSpPr/>
          <p:nvPr/>
        </p:nvSpPr>
        <p:spPr>
          <a:xfrm flipH="false" flipV="false" rot="1002681">
            <a:off x="13083089" y="5669415"/>
            <a:ext cx="5243462" cy="5073050"/>
          </a:xfrm>
          <a:custGeom>
            <a:avLst/>
            <a:gdLst/>
            <a:ahLst/>
            <a:cxnLst/>
            <a:rect r="r" b="b" t="t" l="l"/>
            <a:pathLst>
              <a:path h="5073050" w="5243462">
                <a:moveTo>
                  <a:pt x="0" y="0"/>
                </a:moveTo>
                <a:lnTo>
                  <a:pt x="5243462" y="0"/>
                </a:lnTo>
                <a:lnTo>
                  <a:pt x="5243462" y="5073050"/>
                </a:lnTo>
                <a:lnTo>
                  <a:pt x="0" y="50730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1896458">
            <a:off x="2071643" y="2746514"/>
            <a:ext cx="1789819" cy="2320673"/>
          </a:xfrm>
          <a:custGeom>
            <a:avLst/>
            <a:gdLst/>
            <a:ahLst/>
            <a:cxnLst/>
            <a:rect r="r" b="b" t="t" l="l"/>
            <a:pathLst>
              <a:path h="2320673" w="1789819">
                <a:moveTo>
                  <a:pt x="0" y="0"/>
                </a:moveTo>
                <a:lnTo>
                  <a:pt x="1789819" y="0"/>
                </a:lnTo>
                <a:lnTo>
                  <a:pt x="1789819" y="2320673"/>
                </a:lnTo>
                <a:lnTo>
                  <a:pt x="0" y="2320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109271">
            <a:off x="15057434" y="2647595"/>
            <a:ext cx="1855515" cy="2486452"/>
          </a:xfrm>
          <a:custGeom>
            <a:avLst/>
            <a:gdLst/>
            <a:ahLst/>
            <a:cxnLst/>
            <a:rect r="r" b="b" t="t" l="l"/>
            <a:pathLst>
              <a:path h="2486452" w="1855515">
                <a:moveTo>
                  <a:pt x="0" y="0"/>
                </a:moveTo>
                <a:lnTo>
                  <a:pt x="1855515" y="0"/>
                </a:lnTo>
                <a:lnTo>
                  <a:pt x="1855515" y="2486452"/>
                </a:lnTo>
                <a:lnTo>
                  <a:pt x="0" y="24864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099901" y="3306500"/>
            <a:ext cx="10260127" cy="1183504"/>
          </a:xfrm>
          <a:prstGeom prst="rect">
            <a:avLst/>
          </a:prstGeom>
        </p:spPr>
        <p:txBody>
          <a:bodyPr anchor="t" rtlCol="false" tIns="0" lIns="0" bIns="0" rIns="0">
            <a:spAutoFit/>
          </a:bodyPr>
          <a:lstStyle/>
          <a:p>
            <a:pPr algn="ctr" marL="0" indent="0" lvl="0">
              <a:lnSpc>
                <a:spcPts val="8972"/>
              </a:lnSpc>
            </a:pPr>
            <a:r>
              <a:rPr lang="en-US" sz="8231" spc="609">
                <a:solidFill>
                  <a:srgbClr val="074785"/>
                </a:solidFill>
                <a:latin typeface="Sugo Display"/>
                <a:ea typeface="Sugo Display"/>
                <a:cs typeface="Sugo Display"/>
                <a:sym typeface="Sugo Display"/>
              </a:rPr>
              <a:t>Software de traducción</a:t>
            </a:r>
          </a:p>
        </p:txBody>
      </p:sp>
      <p:sp>
        <p:nvSpPr>
          <p:cNvPr name="Freeform 11" id="11"/>
          <p:cNvSpPr/>
          <p:nvPr/>
        </p:nvSpPr>
        <p:spPr>
          <a:xfrm flipH="false" flipV="false" rot="-1249854">
            <a:off x="1017071" y="6498342"/>
            <a:ext cx="4385487" cy="3415198"/>
          </a:xfrm>
          <a:custGeom>
            <a:avLst/>
            <a:gdLst/>
            <a:ahLst/>
            <a:cxnLst/>
            <a:rect r="r" b="b" t="t" l="l"/>
            <a:pathLst>
              <a:path h="3415198" w="4385487">
                <a:moveTo>
                  <a:pt x="0" y="0"/>
                </a:moveTo>
                <a:lnTo>
                  <a:pt x="4385486" y="0"/>
                </a:lnTo>
                <a:lnTo>
                  <a:pt x="4385486" y="3415197"/>
                </a:lnTo>
                <a:lnTo>
                  <a:pt x="0" y="341519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true" flipV="false" rot="0">
            <a:off x="15918199" y="1984219"/>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3" id="13"/>
          <p:cNvSpPr/>
          <p:nvPr/>
        </p:nvSpPr>
        <p:spPr>
          <a:xfrm flipH="false" flipV="false" rot="0">
            <a:off x="1352612" y="2373138"/>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1252563" y="1028700"/>
            <a:ext cx="13514878" cy="8229600"/>
            <a:chOff x="0" y="0"/>
            <a:chExt cx="3559474" cy="2167467"/>
          </a:xfrm>
        </p:grpSpPr>
        <p:sp>
          <p:nvSpPr>
            <p:cNvPr name="Freeform 3" id="3"/>
            <p:cNvSpPr/>
            <p:nvPr/>
          </p:nvSpPr>
          <p:spPr>
            <a:xfrm flipH="false" flipV="false" rot="0">
              <a:off x="0" y="0"/>
              <a:ext cx="3559474" cy="2167467"/>
            </a:xfrm>
            <a:custGeom>
              <a:avLst/>
              <a:gdLst/>
              <a:ahLst/>
              <a:cxnLst/>
              <a:rect r="r" b="b" t="t" l="l"/>
              <a:pathLst>
                <a:path h="2167467" w="3559474">
                  <a:moveTo>
                    <a:pt x="12603" y="0"/>
                  </a:moveTo>
                  <a:lnTo>
                    <a:pt x="3546871" y="0"/>
                  </a:lnTo>
                  <a:cubicBezTo>
                    <a:pt x="3550214" y="0"/>
                    <a:pt x="3553419" y="1328"/>
                    <a:pt x="3555783" y="3691"/>
                  </a:cubicBezTo>
                  <a:cubicBezTo>
                    <a:pt x="3558146" y="6055"/>
                    <a:pt x="3559474" y="9260"/>
                    <a:pt x="3559474" y="12603"/>
                  </a:cubicBezTo>
                  <a:lnTo>
                    <a:pt x="3559474" y="2154864"/>
                  </a:lnTo>
                  <a:cubicBezTo>
                    <a:pt x="3559474" y="2158207"/>
                    <a:pt x="3558146" y="2161412"/>
                    <a:pt x="3555783" y="2163775"/>
                  </a:cubicBezTo>
                  <a:cubicBezTo>
                    <a:pt x="3553419" y="2166139"/>
                    <a:pt x="3550214" y="2167467"/>
                    <a:pt x="3546871" y="2167467"/>
                  </a:cubicBezTo>
                  <a:lnTo>
                    <a:pt x="12603" y="2167467"/>
                  </a:lnTo>
                  <a:cubicBezTo>
                    <a:pt x="9260" y="2167467"/>
                    <a:pt x="6055" y="2166139"/>
                    <a:pt x="3691" y="2163775"/>
                  </a:cubicBezTo>
                  <a:cubicBezTo>
                    <a:pt x="1328" y="2161412"/>
                    <a:pt x="0" y="2158207"/>
                    <a:pt x="0" y="2154864"/>
                  </a:cubicBezTo>
                  <a:lnTo>
                    <a:pt x="0" y="12603"/>
                  </a:lnTo>
                  <a:cubicBezTo>
                    <a:pt x="0" y="9260"/>
                    <a:pt x="1328" y="6055"/>
                    <a:pt x="3691" y="3691"/>
                  </a:cubicBezTo>
                  <a:cubicBezTo>
                    <a:pt x="6055" y="1328"/>
                    <a:pt x="9260" y="0"/>
                    <a:pt x="12603"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3559474" cy="2215092"/>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1691301" y="3138076"/>
            <a:ext cx="8809181" cy="5301234"/>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Los videojuegos a día de hoy son un mercado global, donde es posible adquirir y jugar títulos desarrollados en distintos países en cuestión de segundos, pero hay algo que aún no es transversal a pesar de tener tantas herramientas en la actualidad; el soporte Multilenguaje.</a:t>
            </a:r>
          </a:p>
          <a:p>
            <a:pPr algn="l">
              <a:lnSpc>
                <a:spcPts val="3888"/>
              </a:lnSpc>
            </a:pPr>
          </a:p>
          <a:p>
            <a:pPr algn="l">
              <a:lnSpc>
                <a:spcPts val="3888"/>
              </a:lnSpc>
            </a:pPr>
            <a:r>
              <a:rPr lang="en-US" sz="2400" spc="115">
                <a:solidFill>
                  <a:srgbClr val="074785"/>
                </a:solidFill>
                <a:latin typeface="Open Sans"/>
                <a:ea typeface="Open Sans"/>
                <a:cs typeface="Open Sans"/>
                <a:sym typeface="Open Sans"/>
              </a:rPr>
              <a:t>El lenguaje, a día de hoy, sigue siendo una barrera en los videojuegos.</a:t>
            </a:r>
          </a:p>
          <a:p>
            <a:pPr algn="l">
              <a:lnSpc>
                <a:spcPts val="3888"/>
              </a:lnSpc>
            </a:pPr>
          </a:p>
          <a:p>
            <a:pPr algn="l">
              <a:lnSpc>
                <a:spcPts val="3888"/>
              </a:lnSpc>
            </a:pPr>
            <a:r>
              <a:rPr lang="en-US" sz="2400" spc="115">
                <a:solidFill>
                  <a:srgbClr val="074785"/>
                </a:solidFill>
                <a:latin typeface="Open Sans"/>
                <a:ea typeface="Open Sans"/>
                <a:cs typeface="Open Sans"/>
                <a:sym typeface="Open Sans"/>
              </a:rPr>
              <a:t>Idiomas como el Español, siguen siendo desplazados, limitando mercados y oportunidades de negocio.</a:t>
            </a:r>
          </a:p>
        </p:txBody>
      </p:sp>
      <p:sp>
        <p:nvSpPr>
          <p:cNvPr name="TextBox 6" id="6"/>
          <p:cNvSpPr txBox="true"/>
          <p:nvPr/>
        </p:nvSpPr>
        <p:spPr>
          <a:xfrm rot="0">
            <a:off x="1691301" y="1320793"/>
            <a:ext cx="5825372" cy="1271220"/>
          </a:xfrm>
          <a:prstGeom prst="rect">
            <a:avLst/>
          </a:prstGeom>
        </p:spPr>
        <p:txBody>
          <a:bodyPr anchor="t" rtlCol="false" tIns="0" lIns="0" bIns="0" rIns="0">
            <a:spAutoFit/>
          </a:bodyPr>
          <a:lstStyle/>
          <a:p>
            <a:pPr algn="l" marL="0" indent="0" lvl="0">
              <a:lnSpc>
                <a:spcPts val="9594"/>
              </a:lnSpc>
              <a:spcBef>
                <a:spcPct val="0"/>
              </a:spcBef>
            </a:pPr>
            <a:r>
              <a:rPr lang="en-US" sz="8802" spc="88">
                <a:solidFill>
                  <a:srgbClr val="074785"/>
                </a:solidFill>
                <a:latin typeface="Sugo Display"/>
                <a:ea typeface="Sugo Display"/>
                <a:cs typeface="Sugo Display"/>
                <a:sym typeface="Sugo Display"/>
              </a:rPr>
              <a:t>Contexto</a:t>
            </a:r>
          </a:p>
        </p:txBody>
      </p:sp>
      <p:sp>
        <p:nvSpPr>
          <p:cNvPr name="Freeform 7" id="7"/>
          <p:cNvSpPr/>
          <p:nvPr/>
        </p:nvSpPr>
        <p:spPr>
          <a:xfrm flipH="true" flipV="false" rot="0">
            <a:off x="10751813" y="681488"/>
            <a:ext cx="7395784" cy="8924023"/>
          </a:xfrm>
          <a:custGeom>
            <a:avLst/>
            <a:gdLst/>
            <a:ahLst/>
            <a:cxnLst/>
            <a:rect r="r" b="b" t="t" l="l"/>
            <a:pathLst>
              <a:path h="8924023" w="7395784">
                <a:moveTo>
                  <a:pt x="7395784" y="0"/>
                </a:moveTo>
                <a:lnTo>
                  <a:pt x="0" y="0"/>
                </a:lnTo>
                <a:lnTo>
                  <a:pt x="0" y="8924024"/>
                </a:lnTo>
                <a:lnTo>
                  <a:pt x="7395784" y="8924024"/>
                </a:lnTo>
                <a:lnTo>
                  <a:pt x="739578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10751813" y="-25389"/>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13477511" y="3205329"/>
            <a:ext cx="4154301" cy="4019286"/>
          </a:xfrm>
          <a:custGeom>
            <a:avLst/>
            <a:gdLst/>
            <a:ahLst/>
            <a:cxnLst/>
            <a:rect r="r" b="b" t="t" l="l"/>
            <a:pathLst>
              <a:path h="4019286" w="4154301">
                <a:moveTo>
                  <a:pt x="0" y="0"/>
                </a:moveTo>
                <a:lnTo>
                  <a:pt x="4154301" y="0"/>
                </a:lnTo>
                <a:lnTo>
                  <a:pt x="4154301" y="4019286"/>
                </a:lnTo>
                <a:lnTo>
                  <a:pt x="0" y="40192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14081" y="725851"/>
            <a:ext cx="11372812" cy="8664015"/>
          </a:xfrm>
          <a:custGeom>
            <a:avLst/>
            <a:gdLst/>
            <a:ahLst/>
            <a:cxnLst/>
            <a:rect r="r" b="b" t="t" l="l"/>
            <a:pathLst>
              <a:path h="8664015" w="11372812">
                <a:moveTo>
                  <a:pt x="0" y="0"/>
                </a:moveTo>
                <a:lnTo>
                  <a:pt x="11372812" y="0"/>
                </a:lnTo>
                <a:lnTo>
                  <a:pt x="11372812" y="8664015"/>
                </a:lnTo>
                <a:lnTo>
                  <a:pt x="0" y="86640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2568715" y="916750"/>
            <a:ext cx="7217710" cy="998321"/>
          </a:xfrm>
          <a:prstGeom prst="rect">
            <a:avLst/>
          </a:prstGeom>
        </p:spPr>
        <p:txBody>
          <a:bodyPr anchor="t" rtlCol="false" tIns="0" lIns="0" bIns="0" rIns="0">
            <a:spAutoFit/>
          </a:bodyPr>
          <a:lstStyle/>
          <a:p>
            <a:pPr algn="l" marL="0" indent="0" lvl="0">
              <a:lnSpc>
                <a:spcPts val="7530"/>
              </a:lnSpc>
              <a:spcBef>
                <a:spcPct val="0"/>
              </a:spcBef>
            </a:pPr>
            <a:r>
              <a:rPr lang="en-US" sz="6908" spc="69">
                <a:solidFill>
                  <a:srgbClr val="074785"/>
                </a:solidFill>
                <a:latin typeface="Sugo Display"/>
                <a:ea typeface="Sugo Display"/>
                <a:cs typeface="Sugo Display"/>
                <a:sym typeface="Sugo Display"/>
              </a:rPr>
              <a:t>Problemática</a:t>
            </a:r>
          </a:p>
        </p:txBody>
      </p:sp>
      <p:sp>
        <p:nvSpPr>
          <p:cNvPr name="TextBox 8" id="8"/>
          <p:cNvSpPr txBox="true"/>
          <p:nvPr/>
        </p:nvSpPr>
        <p:spPr>
          <a:xfrm rot="0">
            <a:off x="1477858" y="2236582"/>
            <a:ext cx="9809812" cy="6745243"/>
          </a:xfrm>
          <a:prstGeom prst="rect">
            <a:avLst/>
          </a:prstGeom>
        </p:spPr>
        <p:txBody>
          <a:bodyPr anchor="t" rtlCol="false" tIns="0" lIns="0" bIns="0" rIns="0">
            <a:spAutoFit/>
          </a:bodyPr>
          <a:lstStyle/>
          <a:p>
            <a:pPr algn="l">
              <a:lnSpc>
                <a:spcPts val="3880"/>
              </a:lnSpc>
            </a:pPr>
            <a:r>
              <a:rPr lang="en-US" sz="2395" spc="114">
                <a:solidFill>
                  <a:srgbClr val="074785"/>
                </a:solidFill>
                <a:latin typeface="Open Sans"/>
                <a:ea typeface="Open Sans"/>
                <a:cs typeface="Open Sans"/>
                <a:sym typeface="Open Sans"/>
              </a:rPr>
              <a:t>Una gran cantidad de títulos en la actualidad, especialmente juegos independientes (Indies) y Novelas Visuales, no cuentan con multilenguaje, o es limitado a países prioritarios, como China, Japón o países Angloparlantes.</a:t>
            </a:r>
          </a:p>
          <a:p>
            <a:pPr algn="l">
              <a:lnSpc>
                <a:spcPts val="3880"/>
              </a:lnSpc>
            </a:pPr>
          </a:p>
          <a:p>
            <a:pPr algn="l">
              <a:lnSpc>
                <a:spcPts val="3880"/>
              </a:lnSpc>
            </a:pPr>
            <a:r>
              <a:rPr lang="en-US" sz="2395" spc="114">
                <a:solidFill>
                  <a:srgbClr val="074785"/>
                </a:solidFill>
                <a:latin typeface="Open Sans"/>
                <a:ea typeface="Open Sans"/>
                <a:cs typeface="Open Sans"/>
                <a:sym typeface="Open Sans"/>
              </a:rPr>
              <a:t>Paradójicamente, siendo uno de los idiomas más hablados, el Español es el menos considerado en procesos de localización, principalmente por razones presupuestarias, de tiempo o recursos por parte de los desarrolladores (Time to market).</a:t>
            </a:r>
          </a:p>
          <a:p>
            <a:pPr algn="l">
              <a:lnSpc>
                <a:spcPts val="3880"/>
              </a:lnSpc>
            </a:pPr>
          </a:p>
          <a:p>
            <a:pPr algn="l">
              <a:lnSpc>
                <a:spcPts val="3880"/>
              </a:lnSpc>
            </a:pPr>
            <a:r>
              <a:rPr lang="en-US" sz="2395" spc="114">
                <a:solidFill>
                  <a:srgbClr val="074785"/>
                </a:solidFill>
                <a:latin typeface="Open Sans"/>
                <a:ea typeface="Open Sans"/>
                <a:cs typeface="Open Sans"/>
                <a:sym typeface="Open Sans"/>
              </a:rPr>
              <a:t>Como consecuencia, muchos jugadores no pueden acceder, o entender, el contenido narrativo y mecánicas de juego, lo que afecta la </a:t>
            </a:r>
            <a:r>
              <a:rPr lang="en-US" b="true" sz="2395" i="true" spc="114">
                <a:solidFill>
                  <a:srgbClr val="074785"/>
                </a:solidFill>
                <a:latin typeface="Open Sans Bold Italics"/>
                <a:ea typeface="Open Sans Bold Italics"/>
                <a:cs typeface="Open Sans Bold Italics"/>
                <a:sym typeface="Open Sans Bold Italics"/>
              </a:rPr>
              <a:t>experiencia de usuario </a:t>
            </a:r>
            <a:r>
              <a:rPr lang="en-US" sz="2395" spc="114">
                <a:solidFill>
                  <a:srgbClr val="074785"/>
                </a:solidFill>
                <a:latin typeface="Open Sans"/>
                <a:ea typeface="Open Sans"/>
                <a:cs typeface="Open Sans"/>
                <a:sym typeface="Open Sans"/>
              </a:rPr>
              <a:t>y</a:t>
            </a:r>
            <a:r>
              <a:rPr lang="en-US" b="true" sz="2395" i="true" spc="114">
                <a:solidFill>
                  <a:srgbClr val="074785"/>
                </a:solidFill>
                <a:latin typeface="Open Sans Bold Italics"/>
                <a:ea typeface="Open Sans Bold Italics"/>
                <a:cs typeface="Open Sans Bold Italics"/>
                <a:sym typeface="Open Sans Bold Italics"/>
              </a:rPr>
              <a:t> </a:t>
            </a:r>
            <a:r>
              <a:rPr lang="en-US" sz="2395" spc="114">
                <a:solidFill>
                  <a:srgbClr val="074785"/>
                </a:solidFill>
                <a:latin typeface="Open Sans"/>
                <a:ea typeface="Open Sans"/>
                <a:cs typeface="Open Sans"/>
                <a:sym typeface="Open Sans"/>
              </a:rPr>
              <a:t>reduce el alcance comercial y cultural de estos títulos.</a:t>
            </a:r>
          </a:p>
        </p:txBody>
      </p:sp>
      <p:sp>
        <p:nvSpPr>
          <p:cNvPr name="Freeform 9" id="9"/>
          <p:cNvSpPr/>
          <p:nvPr/>
        </p:nvSpPr>
        <p:spPr>
          <a:xfrm flipH="false" flipV="false" rot="0">
            <a:off x="13273431" y="7997942"/>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16110252" y="8981825"/>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914081" y="725851"/>
            <a:ext cx="11372812" cy="8664015"/>
          </a:xfrm>
          <a:custGeom>
            <a:avLst/>
            <a:gdLst/>
            <a:ahLst/>
            <a:cxnLst/>
            <a:rect r="r" b="b" t="t" l="l"/>
            <a:pathLst>
              <a:path h="8664015" w="11372812">
                <a:moveTo>
                  <a:pt x="0" y="0"/>
                </a:moveTo>
                <a:lnTo>
                  <a:pt x="11372812" y="0"/>
                </a:lnTo>
                <a:lnTo>
                  <a:pt x="11372812" y="8664015"/>
                </a:lnTo>
                <a:lnTo>
                  <a:pt x="0" y="8664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68715" y="916750"/>
            <a:ext cx="7217710" cy="998321"/>
          </a:xfrm>
          <a:prstGeom prst="rect">
            <a:avLst/>
          </a:prstGeom>
        </p:spPr>
        <p:txBody>
          <a:bodyPr anchor="t" rtlCol="false" tIns="0" lIns="0" bIns="0" rIns="0">
            <a:spAutoFit/>
          </a:bodyPr>
          <a:lstStyle/>
          <a:p>
            <a:pPr algn="l" marL="0" indent="0" lvl="0">
              <a:lnSpc>
                <a:spcPts val="7530"/>
              </a:lnSpc>
              <a:spcBef>
                <a:spcPct val="0"/>
              </a:spcBef>
            </a:pPr>
            <a:r>
              <a:rPr lang="en-US" sz="6908" spc="69">
                <a:solidFill>
                  <a:srgbClr val="074785"/>
                </a:solidFill>
                <a:latin typeface="Sugo Display"/>
                <a:ea typeface="Sugo Display"/>
                <a:cs typeface="Sugo Display"/>
                <a:sym typeface="Sugo Display"/>
              </a:rPr>
              <a:t>Solución</a:t>
            </a:r>
          </a:p>
        </p:txBody>
      </p:sp>
      <p:sp>
        <p:nvSpPr>
          <p:cNvPr name="TextBox 7" id="7"/>
          <p:cNvSpPr txBox="true"/>
          <p:nvPr/>
        </p:nvSpPr>
        <p:spPr>
          <a:xfrm rot="0">
            <a:off x="1367711" y="3578816"/>
            <a:ext cx="10465551" cy="2872359"/>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Desarrollar un software de traducción de texto en tiempo real, enfocado principalmente en juegos independientes y novelas visuales, que permita traducir contenido textual directamente desde la pantalla del juego, sin necesidad de modificar sus archivos internos ni depender de soporte oficial por </a:t>
            </a:r>
            <a:r>
              <a:rPr lang="en-US" sz="2400" spc="115">
                <a:solidFill>
                  <a:srgbClr val="074785"/>
                </a:solidFill>
                <a:latin typeface="Open Sans"/>
                <a:ea typeface="Open Sans"/>
                <a:cs typeface="Open Sans"/>
                <a:sym typeface="Open Sans"/>
              </a:rPr>
              <a:t>p</a:t>
            </a:r>
            <a:r>
              <a:rPr lang="en-US" sz="2400" spc="115">
                <a:solidFill>
                  <a:srgbClr val="074785"/>
                </a:solidFill>
                <a:latin typeface="Open Sans"/>
                <a:ea typeface="Open Sans"/>
                <a:cs typeface="Open Sans"/>
                <a:sym typeface="Open Sans"/>
              </a:rPr>
              <a:t>a</a:t>
            </a:r>
            <a:r>
              <a:rPr lang="en-US" sz="2400" spc="115">
                <a:solidFill>
                  <a:srgbClr val="074785"/>
                </a:solidFill>
                <a:latin typeface="Open Sans"/>
                <a:ea typeface="Open Sans"/>
                <a:cs typeface="Open Sans"/>
                <a:sym typeface="Open Sans"/>
              </a:rPr>
              <a:t>r</a:t>
            </a:r>
            <a:r>
              <a:rPr lang="en-US" sz="2400" spc="115">
                <a:solidFill>
                  <a:srgbClr val="074785"/>
                </a:solidFill>
                <a:latin typeface="Open Sans"/>
                <a:ea typeface="Open Sans"/>
                <a:cs typeface="Open Sans"/>
                <a:sym typeface="Open Sans"/>
              </a:rPr>
              <a:t>t</a:t>
            </a:r>
            <a:r>
              <a:rPr lang="en-US" sz="2400" spc="115">
                <a:solidFill>
                  <a:srgbClr val="074785"/>
                </a:solidFill>
                <a:latin typeface="Open Sans"/>
                <a:ea typeface="Open Sans"/>
                <a:cs typeface="Open Sans"/>
                <a:sym typeface="Open Sans"/>
              </a:rPr>
              <a:t>e de</a:t>
            </a:r>
            <a:r>
              <a:rPr lang="en-US" sz="2400" spc="115">
                <a:solidFill>
                  <a:srgbClr val="074785"/>
                </a:solidFill>
                <a:latin typeface="Open Sans"/>
                <a:ea typeface="Open Sans"/>
                <a:cs typeface="Open Sans"/>
                <a:sym typeface="Open Sans"/>
              </a:rPr>
              <a:t>l</a:t>
            </a:r>
            <a:r>
              <a:rPr lang="en-US" sz="2400" spc="115">
                <a:solidFill>
                  <a:srgbClr val="074785"/>
                </a:solidFill>
                <a:latin typeface="Open Sans"/>
                <a:ea typeface="Open Sans"/>
                <a:cs typeface="Open Sans"/>
                <a:sym typeface="Open Sans"/>
              </a:rPr>
              <a:t> </a:t>
            </a:r>
            <a:r>
              <a:rPr lang="en-US" sz="2400" spc="115">
                <a:solidFill>
                  <a:srgbClr val="074785"/>
                </a:solidFill>
                <a:latin typeface="Open Sans"/>
                <a:ea typeface="Open Sans"/>
                <a:cs typeface="Open Sans"/>
                <a:sym typeface="Open Sans"/>
              </a:rPr>
              <a:t>de</a:t>
            </a:r>
            <a:r>
              <a:rPr lang="en-US" sz="2400" spc="115">
                <a:solidFill>
                  <a:srgbClr val="074785"/>
                </a:solidFill>
                <a:latin typeface="Open Sans"/>
                <a:ea typeface="Open Sans"/>
                <a:cs typeface="Open Sans"/>
                <a:sym typeface="Open Sans"/>
              </a:rPr>
              <a:t>sar</a:t>
            </a:r>
            <a:r>
              <a:rPr lang="en-US" sz="2400" spc="115">
                <a:solidFill>
                  <a:srgbClr val="074785"/>
                </a:solidFill>
                <a:latin typeface="Open Sans"/>
                <a:ea typeface="Open Sans"/>
                <a:cs typeface="Open Sans"/>
                <a:sym typeface="Open Sans"/>
              </a:rPr>
              <a:t>rollador.</a:t>
            </a:r>
          </a:p>
        </p:txBody>
      </p:sp>
      <p:sp>
        <p:nvSpPr>
          <p:cNvPr name="Freeform 8" id="8"/>
          <p:cNvSpPr/>
          <p:nvPr/>
        </p:nvSpPr>
        <p:spPr>
          <a:xfrm flipH="false" flipV="false" rot="0">
            <a:off x="13430334" y="6492505"/>
            <a:ext cx="1766017" cy="2289811"/>
          </a:xfrm>
          <a:custGeom>
            <a:avLst/>
            <a:gdLst/>
            <a:ahLst/>
            <a:cxnLst/>
            <a:rect r="r" b="b" t="t" l="l"/>
            <a:pathLst>
              <a:path h="2289811" w="1766017">
                <a:moveTo>
                  <a:pt x="0" y="0"/>
                </a:moveTo>
                <a:lnTo>
                  <a:pt x="1766017" y="0"/>
                </a:lnTo>
                <a:lnTo>
                  <a:pt x="1766017" y="2289811"/>
                </a:lnTo>
                <a:lnTo>
                  <a:pt x="0" y="22898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539737" y="5245522"/>
            <a:ext cx="2081391" cy="1675520"/>
          </a:xfrm>
          <a:custGeom>
            <a:avLst/>
            <a:gdLst/>
            <a:ahLst/>
            <a:cxnLst/>
            <a:rect r="r" b="b" t="t" l="l"/>
            <a:pathLst>
              <a:path h="1675520" w="2081391">
                <a:moveTo>
                  <a:pt x="0" y="0"/>
                </a:moveTo>
                <a:lnTo>
                  <a:pt x="2081391" y="0"/>
                </a:lnTo>
                <a:lnTo>
                  <a:pt x="2081391" y="1675520"/>
                </a:lnTo>
                <a:lnTo>
                  <a:pt x="0" y="1675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3860156" y="2997784"/>
            <a:ext cx="2197872" cy="1631920"/>
          </a:xfrm>
          <a:custGeom>
            <a:avLst/>
            <a:gdLst/>
            <a:ahLst/>
            <a:cxnLst/>
            <a:rect r="r" b="b" t="t" l="l"/>
            <a:pathLst>
              <a:path h="1631920" w="2197872">
                <a:moveTo>
                  <a:pt x="0" y="0"/>
                </a:moveTo>
                <a:lnTo>
                  <a:pt x="2197872" y="0"/>
                </a:lnTo>
                <a:lnTo>
                  <a:pt x="2197872" y="1631921"/>
                </a:lnTo>
                <a:lnTo>
                  <a:pt x="0" y="16319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358150" y="9389866"/>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6454109" y="9058167"/>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7030955" y="311403"/>
            <a:ext cx="4238188" cy="1434594"/>
            <a:chOff x="0" y="0"/>
            <a:chExt cx="2113647" cy="715453"/>
          </a:xfrm>
        </p:grpSpPr>
        <p:sp>
          <p:nvSpPr>
            <p:cNvPr name="Freeform 3" id="3"/>
            <p:cNvSpPr/>
            <p:nvPr/>
          </p:nvSpPr>
          <p:spPr>
            <a:xfrm flipH="false" flipV="false" rot="0">
              <a:off x="0" y="0"/>
              <a:ext cx="2113647" cy="715453"/>
            </a:xfrm>
            <a:custGeom>
              <a:avLst/>
              <a:gdLst/>
              <a:ahLst/>
              <a:cxnLst/>
              <a:rect r="r" b="b" t="t" l="l"/>
              <a:pathLst>
                <a:path h="715453" w="2113647">
                  <a:moveTo>
                    <a:pt x="29227" y="0"/>
                  </a:moveTo>
                  <a:lnTo>
                    <a:pt x="2084419" y="0"/>
                  </a:lnTo>
                  <a:cubicBezTo>
                    <a:pt x="2100561" y="0"/>
                    <a:pt x="2113647" y="13085"/>
                    <a:pt x="2113647" y="29227"/>
                  </a:cubicBezTo>
                  <a:lnTo>
                    <a:pt x="2113647" y="686226"/>
                  </a:lnTo>
                  <a:cubicBezTo>
                    <a:pt x="2113647" y="702367"/>
                    <a:pt x="2100561" y="715453"/>
                    <a:pt x="2084419" y="715453"/>
                  </a:cubicBezTo>
                  <a:lnTo>
                    <a:pt x="29227" y="715453"/>
                  </a:lnTo>
                  <a:cubicBezTo>
                    <a:pt x="13085" y="715453"/>
                    <a:pt x="0" y="702367"/>
                    <a:pt x="0" y="686226"/>
                  </a:cubicBezTo>
                  <a:lnTo>
                    <a:pt x="0" y="29227"/>
                  </a:lnTo>
                  <a:cubicBezTo>
                    <a:pt x="0" y="13085"/>
                    <a:pt x="13085" y="0"/>
                    <a:pt x="29227" y="0"/>
                  </a:cubicBezTo>
                  <a:close/>
                </a:path>
              </a:pathLst>
            </a:custGeom>
            <a:solidFill>
              <a:srgbClr val="FFFFFF"/>
            </a:solidFill>
            <a:ln w="57150" cap="sq">
              <a:solidFill>
                <a:srgbClr val="074785"/>
              </a:solidFill>
              <a:prstDash val="solid"/>
              <a:miter/>
            </a:ln>
          </p:spPr>
        </p:sp>
        <p:sp>
          <p:nvSpPr>
            <p:cNvPr name="TextBox 4" id="4"/>
            <p:cNvSpPr txBox="true"/>
            <p:nvPr/>
          </p:nvSpPr>
          <p:spPr>
            <a:xfrm>
              <a:off x="0" y="-47625"/>
              <a:ext cx="2113647" cy="763078"/>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7763373" y="522774"/>
            <a:ext cx="2859647" cy="1059477"/>
          </a:xfrm>
          <a:prstGeom prst="rect">
            <a:avLst/>
          </a:prstGeom>
        </p:spPr>
        <p:txBody>
          <a:bodyPr anchor="t" rtlCol="false" tIns="0" lIns="0" bIns="0" rIns="0">
            <a:spAutoFit/>
          </a:bodyPr>
          <a:lstStyle/>
          <a:p>
            <a:pPr algn="l" marL="0" indent="0" lvl="0">
              <a:lnSpc>
                <a:spcPts val="7958"/>
              </a:lnSpc>
              <a:spcBef>
                <a:spcPct val="0"/>
              </a:spcBef>
            </a:pPr>
            <a:r>
              <a:rPr lang="en-US" sz="7300" spc="73">
                <a:solidFill>
                  <a:srgbClr val="074785"/>
                </a:solidFill>
                <a:latin typeface="Sugo Display"/>
                <a:ea typeface="Sugo Display"/>
                <a:cs typeface="Sugo Display"/>
                <a:sym typeface="Sugo Display"/>
              </a:rPr>
              <a:t>Objetivos</a:t>
            </a:r>
          </a:p>
        </p:txBody>
      </p:sp>
      <p:grpSp>
        <p:nvGrpSpPr>
          <p:cNvPr name="Group 6" id="6"/>
          <p:cNvGrpSpPr/>
          <p:nvPr/>
        </p:nvGrpSpPr>
        <p:grpSpPr>
          <a:xfrm rot="0">
            <a:off x="978217" y="2179429"/>
            <a:ext cx="5994626" cy="7200900"/>
            <a:chOff x="0" y="0"/>
            <a:chExt cx="1578832" cy="1896533"/>
          </a:xfrm>
        </p:grpSpPr>
        <p:sp>
          <p:nvSpPr>
            <p:cNvPr name="Freeform 7" id="7"/>
            <p:cNvSpPr/>
            <p:nvPr/>
          </p:nvSpPr>
          <p:spPr>
            <a:xfrm flipH="false" flipV="false" rot="0">
              <a:off x="0" y="0"/>
              <a:ext cx="1578832" cy="1896533"/>
            </a:xfrm>
            <a:custGeom>
              <a:avLst/>
              <a:gdLst/>
              <a:ahLst/>
              <a:cxnLst/>
              <a:rect r="r" b="b" t="t" l="l"/>
              <a:pathLst>
                <a:path h="1896533" w="1578832">
                  <a:moveTo>
                    <a:pt x="28412" y="0"/>
                  </a:moveTo>
                  <a:lnTo>
                    <a:pt x="1550419" y="0"/>
                  </a:lnTo>
                  <a:cubicBezTo>
                    <a:pt x="1557955" y="0"/>
                    <a:pt x="1565181" y="2993"/>
                    <a:pt x="1570510" y="8322"/>
                  </a:cubicBezTo>
                  <a:cubicBezTo>
                    <a:pt x="1575838" y="13650"/>
                    <a:pt x="1578832" y="20877"/>
                    <a:pt x="1578832" y="28412"/>
                  </a:cubicBezTo>
                  <a:lnTo>
                    <a:pt x="1578832" y="1868121"/>
                  </a:lnTo>
                  <a:cubicBezTo>
                    <a:pt x="1578832" y="1875656"/>
                    <a:pt x="1575838" y="1882883"/>
                    <a:pt x="1570510" y="1888211"/>
                  </a:cubicBezTo>
                  <a:cubicBezTo>
                    <a:pt x="1565181" y="1893540"/>
                    <a:pt x="1557955" y="1896533"/>
                    <a:pt x="1550419" y="1896533"/>
                  </a:cubicBezTo>
                  <a:lnTo>
                    <a:pt x="28412" y="1896533"/>
                  </a:lnTo>
                  <a:cubicBezTo>
                    <a:pt x="20877" y="1896533"/>
                    <a:pt x="13650" y="1893540"/>
                    <a:pt x="8322" y="1888211"/>
                  </a:cubicBezTo>
                  <a:cubicBezTo>
                    <a:pt x="2993" y="1882883"/>
                    <a:pt x="0" y="1875656"/>
                    <a:pt x="0" y="1868121"/>
                  </a:cubicBezTo>
                  <a:lnTo>
                    <a:pt x="0" y="28412"/>
                  </a:lnTo>
                  <a:cubicBezTo>
                    <a:pt x="0" y="20877"/>
                    <a:pt x="2993" y="13650"/>
                    <a:pt x="8322" y="8322"/>
                  </a:cubicBezTo>
                  <a:cubicBezTo>
                    <a:pt x="13650" y="2993"/>
                    <a:pt x="20877" y="0"/>
                    <a:pt x="28412" y="0"/>
                  </a:cubicBezTo>
                  <a:close/>
                </a:path>
              </a:pathLst>
            </a:custGeom>
            <a:solidFill>
              <a:srgbClr val="F9FCFF"/>
            </a:solidFill>
            <a:ln w="66675" cap="rnd">
              <a:solidFill>
                <a:srgbClr val="074785"/>
              </a:solidFill>
              <a:prstDash val="solid"/>
              <a:round/>
            </a:ln>
          </p:spPr>
        </p:sp>
        <p:sp>
          <p:nvSpPr>
            <p:cNvPr name="TextBox 8" id="8"/>
            <p:cNvSpPr txBox="true"/>
            <p:nvPr/>
          </p:nvSpPr>
          <p:spPr>
            <a:xfrm>
              <a:off x="0" y="-47625"/>
              <a:ext cx="1578832" cy="1944158"/>
            </a:xfrm>
            <a:prstGeom prst="rect">
              <a:avLst/>
            </a:prstGeom>
          </p:spPr>
          <p:txBody>
            <a:bodyPr anchor="ctr" rtlCol="false" tIns="50800" lIns="50800" bIns="50800" rIns="50800"/>
            <a:lstStyle/>
            <a:p>
              <a:pPr algn="ctr">
                <a:lnSpc>
                  <a:spcPts val="3214"/>
                </a:lnSpc>
              </a:pPr>
            </a:p>
          </p:txBody>
        </p:sp>
      </p:grpSp>
      <p:sp>
        <p:nvSpPr>
          <p:cNvPr name="Freeform 9" id="9"/>
          <p:cNvSpPr/>
          <p:nvPr/>
        </p:nvSpPr>
        <p:spPr>
          <a:xfrm flipH="false" flipV="false" rot="0">
            <a:off x="7677693" y="2641545"/>
            <a:ext cx="1472356" cy="2044939"/>
          </a:xfrm>
          <a:custGeom>
            <a:avLst/>
            <a:gdLst/>
            <a:ahLst/>
            <a:cxnLst/>
            <a:rect r="r" b="b" t="t" l="l"/>
            <a:pathLst>
              <a:path h="2044939" w="1472356">
                <a:moveTo>
                  <a:pt x="0" y="0"/>
                </a:moveTo>
                <a:lnTo>
                  <a:pt x="1472356" y="0"/>
                </a:lnTo>
                <a:lnTo>
                  <a:pt x="1472356" y="2044939"/>
                </a:lnTo>
                <a:lnTo>
                  <a:pt x="0" y="2044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345639" y="3671765"/>
            <a:ext cx="5259780" cy="3843909"/>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Desarrollar un software de traducción de videojuegos, capaz de integrar visión por computadora con módulos de traducción e Inteligencia Artificial, logrando un balance entre precisión, latencia y fidelidad en las traducciones.</a:t>
            </a:r>
          </a:p>
        </p:txBody>
      </p:sp>
      <p:sp>
        <p:nvSpPr>
          <p:cNvPr name="Freeform 11" id="11"/>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2" id="12"/>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 id="13"/>
          <p:cNvSpPr/>
          <p:nvPr/>
        </p:nvSpPr>
        <p:spPr>
          <a:xfrm flipH="false" flipV="false" rot="0">
            <a:off x="8988409" y="4274399"/>
            <a:ext cx="1692152" cy="1362183"/>
          </a:xfrm>
          <a:custGeom>
            <a:avLst/>
            <a:gdLst/>
            <a:ahLst/>
            <a:cxnLst/>
            <a:rect r="r" b="b" t="t" l="l"/>
            <a:pathLst>
              <a:path h="1362183" w="1692152">
                <a:moveTo>
                  <a:pt x="0" y="0"/>
                </a:moveTo>
                <a:lnTo>
                  <a:pt x="1692153" y="0"/>
                </a:lnTo>
                <a:lnTo>
                  <a:pt x="1692153" y="1362183"/>
                </a:lnTo>
                <a:lnTo>
                  <a:pt x="0" y="13621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4" id="14"/>
          <p:cNvGrpSpPr/>
          <p:nvPr/>
        </p:nvGrpSpPr>
        <p:grpSpPr>
          <a:xfrm rot="0">
            <a:off x="978217" y="2027879"/>
            <a:ext cx="5994626" cy="1202040"/>
            <a:chOff x="0" y="0"/>
            <a:chExt cx="1578832" cy="316587"/>
          </a:xfrm>
        </p:grpSpPr>
        <p:sp>
          <p:nvSpPr>
            <p:cNvPr name="Freeform 15" id="15"/>
            <p:cNvSpPr/>
            <p:nvPr/>
          </p:nvSpPr>
          <p:spPr>
            <a:xfrm flipH="false" flipV="false" rot="0">
              <a:off x="0" y="0"/>
              <a:ext cx="1578832" cy="316587"/>
            </a:xfrm>
            <a:custGeom>
              <a:avLst/>
              <a:gdLst/>
              <a:ahLst/>
              <a:cxnLst/>
              <a:rect r="r" b="b" t="t" l="l"/>
              <a:pathLst>
                <a:path h="316587" w="1578832">
                  <a:moveTo>
                    <a:pt x="28412" y="0"/>
                  </a:moveTo>
                  <a:lnTo>
                    <a:pt x="1550419" y="0"/>
                  </a:lnTo>
                  <a:cubicBezTo>
                    <a:pt x="1557955" y="0"/>
                    <a:pt x="1565181" y="2993"/>
                    <a:pt x="1570510" y="8322"/>
                  </a:cubicBezTo>
                  <a:cubicBezTo>
                    <a:pt x="1575838" y="13650"/>
                    <a:pt x="1578832" y="20877"/>
                    <a:pt x="1578832" y="28412"/>
                  </a:cubicBezTo>
                  <a:lnTo>
                    <a:pt x="1578832" y="288174"/>
                  </a:lnTo>
                  <a:cubicBezTo>
                    <a:pt x="1578832" y="295710"/>
                    <a:pt x="1575838" y="302936"/>
                    <a:pt x="1570510" y="308265"/>
                  </a:cubicBezTo>
                  <a:cubicBezTo>
                    <a:pt x="1565181" y="313593"/>
                    <a:pt x="1557955" y="316587"/>
                    <a:pt x="1550419" y="316587"/>
                  </a:cubicBezTo>
                  <a:lnTo>
                    <a:pt x="28412" y="316587"/>
                  </a:lnTo>
                  <a:cubicBezTo>
                    <a:pt x="20877" y="316587"/>
                    <a:pt x="13650" y="313593"/>
                    <a:pt x="8322" y="308265"/>
                  </a:cubicBezTo>
                  <a:cubicBezTo>
                    <a:pt x="2993" y="302936"/>
                    <a:pt x="0" y="295710"/>
                    <a:pt x="0" y="288174"/>
                  </a:cubicBezTo>
                  <a:lnTo>
                    <a:pt x="0" y="28412"/>
                  </a:lnTo>
                  <a:cubicBezTo>
                    <a:pt x="0" y="20877"/>
                    <a:pt x="2993" y="13650"/>
                    <a:pt x="8322" y="8322"/>
                  </a:cubicBezTo>
                  <a:cubicBezTo>
                    <a:pt x="13650" y="2993"/>
                    <a:pt x="20877" y="0"/>
                    <a:pt x="28412" y="0"/>
                  </a:cubicBezTo>
                  <a:close/>
                </a:path>
              </a:pathLst>
            </a:custGeom>
            <a:solidFill>
              <a:srgbClr val="F8DA6F"/>
            </a:solidFill>
            <a:ln w="66675" cap="rnd">
              <a:solidFill>
                <a:srgbClr val="074785"/>
              </a:solidFill>
              <a:prstDash val="solid"/>
              <a:round/>
            </a:ln>
          </p:spPr>
        </p:sp>
        <p:sp>
          <p:nvSpPr>
            <p:cNvPr name="TextBox 16" id="16"/>
            <p:cNvSpPr txBox="true"/>
            <p:nvPr/>
          </p:nvSpPr>
          <p:spPr>
            <a:xfrm>
              <a:off x="0" y="-47625"/>
              <a:ext cx="1578832" cy="364212"/>
            </a:xfrm>
            <a:prstGeom prst="rect">
              <a:avLst/>
            </a:prstGeom>
          </p:spPr>
          <p:txBody>
            <a:bodyPr anchor="ctr" rtlCol="false" tIns="50800" lIns="50800" bIns="50800" rIns="50800"/>
            <a:lstStyle/>
            <a:p>
              <a:pPr algn="ctr">
                <a:lnSpc>
                  <a:spcPts val="3214"/>
                </a:lnSpc>
              </a:pPr>
            </a:p>
          </p:txBody>
        </p:sp>
      </p:grpSp>
      <p:sp>
        <p:nvSpPr>
          <p:cNvPr name="TextBox 17" id="17"/>
          <p:cNvSpPr txBox="true"/>
          <p:nvPr/>
        </p:nvSpPr>
        <p:spPr>
          <a:xfrm rot="0">
            <a:off x="1541949" y="2316479"/>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Generales</a:t>
            </a:r>
          </a:p>
        </p:txBody>
      </p:sp>
      <p:grpSp>
        <p:nvGrpSpPr>
          <p:cNvPr name="Group 18" id="18"/>
          <p:cNvGrpSpPr/>
          <p:nvPr/>
        </p:nvGrpSpPr>
        <p:grpSpPr>
          <a:xfrm rot="0">
            <a:off x="11356421" y="2179429"/>
            <a:ext cx="5994626" cy="7200900"/>
            <a:chOff x="0" y="0"/>
            <a:chExt cx="1578832" cy="1896533"/>
          </a:xfrm>
        </p:grpSpPr>
        <p:sp>
          <p:nvSpPr>
            <p:cNvPr name="Freeform 19" id="19"/>
            <p:cNvSpPr/>
            <p:nvPr/>
          </p:nvSpPr>
          <p:spPr>
            <a:xfrm flipH="false" flipV="false" rot="0">
              <a:off x="0" y="0"/>
              <a:ext cx="1578832" cy="1896533"/>
            </a:xfrm>
            <a:custGeom>
              <a:avLst/>
              <a:gdLst/>
              <a:ahLst/>
              <a:cxnLst/>
              <a:rect r="r" b="b" t="t" l="l"/>
              <a:pathLst>
                <a:path h="1896533" w="1578832">
                  <a:moveTo>
                    <a:pt x="28412" y="0"/>
                  </a:moveTo>
                  <a:lnTo>
                    <a:pt x="1550419" y="0"/>
                  </a:lnTo>
                  <a:cubicBezTo>
                    <a:pt x="1557955" y="0"/>
                    <a:pt x="1565181" y="2993"/>
                    <a:pt x="1570510" y="8322"/>
                  </a:cubicBezTo>
                  <a:cubicBezTo>
                    <a:pt x="1575838" y="13650"/>
                    <a:pt x="1578832" y="20877"/>
                    <a:pt x="1578832" y="28412"/>
                  </a:cubicBezTo>
                  <a:lnTo>
                    <a:pt x="1578832" y="1868121"/>
                  </a:lnTo>
                  <a:cubicBezTo>
                    <a:pt x="1578832" y="1875656"/>
                    <a:pt x="1575838" y="1882883"/>
                    <a:pt x="1570510" y="1888211"/>
                  </a:cubicBezTo>
                  <a:cubicBezTo>
                    <a:pt x="1565181" y="1893540"/>
                    <a:pt x="1557955" y="1896533"/>
                    <a:pt x="1550419" y="1896533"/>
                  </a:cubicBezTo>
                  <a:lnTo>
                    <a:pt x="28412" y="1896533"/>
                  </a:lnTo>
                  <a:cubicBezTo>
                    <a:pt x="20877" y="1896533"/>
                    <a:pt x="13650" y="1893540"/>
                    <a:pt x="8322" y="1888211"/>
                  </a:cubicBezTo>
                  <a:cubicBezTo>
                    <a:pt x="2993" y="1882883"/>
                    <a:pt x="0" y="1875656"/>
                    <a:pt x="0" y="1868121"/>
                  </a:cubicBezTo>
                  <a:lnTo>
                    <a:pt x="0" y="28412"/>
                  </a:lnTo>
                  <a:cubicBezTo>
                    <a:pt x="0" y="20877"/>
                    <a:pt x="2993" y="13650"/>
                    <a:pt x="8322" y="8322"/>
                  </a:cubicBezTo>
                  <a:cubicBezTo>
                    <a:pt x="13650" y="2993"/>
                    <a:pt x="20877" y="0"/>
                    <a:pt x="28412" y="0"/>
                  </a:cubicBezTo>
                  <a:close/>
                </a:path>
              </a:pathLst>
            </a:custGeom>
            <a:solidFill>
              <a:srgbClr val="F9FCFF"/>
            </a:solidFill>
            <a:ln w="66675" cap="rnd">
              <a:solidFill>
                <a:srgbClr val="074785"/>
              </a:solidFill>
              <a:prstDash val="solid"/>
              <a:round/>
            </a:ln>
          </p:spPr>
        </p:sp>
        <p:sp>
          <p:nvSpPr>
            <p:cNvPr name="TextBox 20" id="20"/>
            <p:cNvSpPr txBox="true"/>
            <p:nvPr/>
          </p:nvSpPr>
          <p:spPr>
            <a:xfrm>
              <a:off x="0" y="-47625"/>
              <a:ext cx="1578832" cy="1944158"/>
            </a:xfrm>
            <a:prstGeom prst="rect">
              <a:avLst/>
            </a:prstGeom>
          </p:spPr>
          <p:txBody>
            <a:bodyPr anchor="ctr" rtlCol="false" tIns="50800" lIns="50800" bIns="50800" rIns="50800"/>
            <a:lstStyle/>
            <a:p>
              <a:pPr algn="ctr">
                <a:lnSpc>
                  <a:spcPts val="3214"/>
                </a:lnSpc>
              </a:pPr>
            </a:p>
          </p:txBody>
        </p:sp>
      </p:grpSp>
      <p:sp>
        <p:nvSpPr>
          <p:cNvPr name="TextBox 21" id="21"/>
          <p:cNvSpPr txBox="true"/>
          <p:nvPr/>
        </p:nvSpPr>
        <p:spPr>
          <a:xfrm rot="0">
            <a:off x="11658920" y="3248577"/>
            <a:ext cx="5389629" cy="6671310"/>
          </a:xfrm>
          <a:prstGeom prst="rect">
            <a:avLst/>
          </a:prstGeom>
        </p:spPr>
        <p:txBody>
          <a:bodyPr anchor="t" rtlCol="false" tIns="0" lIns="0" bIns="0" rIns="0">
            <a:spAutoFit/>
          </a:bodyPr>
          <a:lstStyle/>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 Realizar captura de pantalla.</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 Software capaz de hacer superposición (overlay).</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 Reconocimiento de caracteres.</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Traducción a partir del texto extraído.</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Inferencia de texto mediante IA.</a:t>
            </a:r>
          </a:p>
          <a:p>
            <a:pPr algn="l" marL="518160" indent="-259080" lvl="1">
              <a:lnSpc>
                <a:spcPts val="4512"/>
              </a:lnSpc>
              <a:buAutoNum type="arabicPeriod" startAt="1"/>
            </a:pPr>
            <a:r>
              <a:rPr lang="en-US" sz="2400" spc="115">
                <a:solidFill>
                  <a:srgbClr val="074785"/>
                </a:solidFill>
                <a:latin typeface="Open Sans"/>
                <a:ea typeface="Open Sans"/>
                <a:cs typeface="Open Sans"/>
                <a:sym typeface="Open Sans"/>
              </a:rPr>
              <a:t>Baja latencia y alta precisión.</a:t>
            </a:r>
          </a:p>
          <a:p>
            <a:pPr algn="l">
              <a:lnSpc>
                <a:spcPts val="3888"/>
              </a:lnSpc>
            </a:pPr>
          </a:p>
          <a:p>
            <a:pPr algn="l">
              <a:lnSpc>
                <a:spcPts val="3888"/>
              </a:lnSpc>
            </a:pPr>
          </a:p>
        </p:txBody>
      </p:sp>
      <p:grpSp>
        <p:nvGrpSpPr>
          <p:cNvPr name="Group 22" id="22"/>
          <p:cNvGrpSpPr/>
          <p:nvPr/>
        </p:nvGrpSpPr>
        <p:grpSpPr>
          <a:xfrm rot="0">
            <a:off x="11356421" y="2027879"/>
            <a:ext cx="5994626" cy="1202040"/>
            <a:chOff x="0" y="0"/>
            <a:chExt cx="1578832" cy="316587"/>
          </a:xfrm>
        </p:grpSpPr>
        <p:sp>
          <p:nvSpPr>
            <p:cNvPr name="Freeform 23" id="23"/>
            <p:cNvSpPr/>
            <p:nvPr/>
          </p:nvSpPr>
          <p:spPr>
            <a:xfrm flipH="false" flipV="false" rot="0">
              <a:off x="0" y="0"/>
              <a:ext cx="1578832" cy="316587"/>
            </a:xfrm>
            <a:custGeom>
              <a:avLst/>
              <a:gdLst/>
              <a:ahLst/>
              <a:cxnLst/>
              <a:rect r="r" b="b" t="t" l="l"/>
              <a:pathLst>
                <a:path h="316587" w="1578832">
                  <a:moveTo>
                    <a:pt x="28412" y="0"/>
                  </a:moveTo>
                  <a:lnTo>
                    <a:pt x="1550419" y="0"/>
                  </a:lnTo>
                  <a:cubicBezTo>
                    <a:pt x="1557955" y="0"/>
                    <a:pt x="1565181" y="2993"/>
                    <a:pt x="1570510" y="8322"/>
                  </a:cubicBezTo>
                  <a:cubicBezTo>
                    <a:pt x="1575838" y="13650"/>
                    <a:pt x="1578832" y="20877"/>
                    <a:pt x="1578832" y="28412"/>
                  </a:cubicBezTo>
                  <a:lnTo>
                    <a:pt x="1578832" y="288174"/>
                  </a:lnTo>
                  <a:cubicBezTo>
                    <a:pt x="1578832" y="295710"/>
                    <a:pt x="1575838" y="302936"/>
                    <a:pt x="1570510" y="308265"/>
                  </a:cubicBezTo>
                  <a:cubicBezTo>
                    <a:pt x="1565181" y="313593"/>
                    <a:pt x="1557955" y="316587"/>
                    <a:pt x="1550419" y="316587"/>
                  </a:cubicBezTo>
                  <a:lnTo>
                    <a:pt x="28412" y="316587"/>
                  </a:lnTo>
                  <a:cubicBezTo>
                    <a:pt x="20877" y="316587"/>
                    <a:pt x="13650" y="313593"/>
                    <a:pt x="8322" y="308265"/>
                  </a:cubicBezTo>
                  <a:cubicBezTo>
                    <a:pt x="2993" y="302936"/>
                    <a:pt x="0" y="295710"/>
                    <a:pt x="0" y="288174"/>
                  </a:cubicBezTo>
                  <a:lnTo>
                    <a:pt x="0" y="28412"/>
                  </a:lnTo>
                  <a:cubicBezTo>
                    <a:pt x="0" y="20877"/>
                    <a:pt x="2993" y="13650"/>
                    <a:pt x="8322" y="8322"/>
                  </a:cubicBezTo>
                  <a:cubicBezTo>
                    <a:pt x="13650" y="2993"/>
                    <a:pt x="20877" y="0"/>
                    <a:pt x="28412" y="0"/>
                  </a:cubicBezTo>
                  <a:close/>
                </a:path>
              </a:pathLst>
            </a:custGeom>
            <a:solidFill>
              <a:srgbClr val="F8DA6F"/>
            </a:solidFill>
            <a:ln w="66675" cap="rnd">
              <a:solidFill>
                <a:srgbClr val="074785"/>
              </a:solidFill>
              <a:prstDash val="solid"/>
              <a:round/>
            </a:ln>
          </p:spPr>
        </p:sp>
        <p:sp>
          <p:nvSpPr>
            <p:cNvPr name="TextBox 24" id="24"/>
            <p:cNvSpPr txBox="true"/>
            <p:nvPr/>
          </p:nvSpPr>
          <p:spPr>
            <a:xfrm>
              <a:off x="0" y="-47625"/>
              <a:ext cx="1578832" cy="364212"/>
            </a:xfrm>
            <a:prstGeom prst="rect">
              <a:avLst/>
            </a:prstGeom>
          </p:spPr>
          <p:txBody>
            <a:bodyPr anchor="ctr" rtlCol="false" tIns="50800" lIns="50800" bIns="50800" rIns="50800"/>
            <a:lstStyle/>
            <a:p>
              <a:pPr algn="ctr">
                <a:lnSpc>
                  <a:spcPts val="3214"/>
                </a:lnSpc>
              </a:pPr>
            </a:p>
          </p:txBody>
        </p:sp>
      </p:grpSp>
      <p:sp>
        <p:nvSpPr>
          <p:cNvPr name="TextBox 25" id="25"/>
          <p:cNvSpPr txBox="true"/>
          <p:nvPr/>
        </p:nvSpPr>
        <p:spPr>
          <a:xfrm rot="0">
            <a:off x="11869671" y="2316479"/>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Específicos</a:t>
            </a:r>
          </a:p>
        </p:txBody>
      </p:sp>
      <p:sp>
        <p:nvSpPr>
          <p:cNvPr name="Freeform 26" id="26"/>
          <p:cNvSpPr/>
          <p:nvPr/>
        </p:nvSpPr>
        <p:spPr>
          <a:xfrm flipH="false" flipV="false" rot="0">
            <a:off x="8121187" y="6094049"/>
            <a:ext cx="1210148" cy="1621639"/>
          </a:xfrm>
          <a:custGeom>
            <a:avLst/>
            <a:gdLst/>
            <a:ahLst/>
            <a:cxnLst/>
            <a:rect r="r" b="b" t="t" l="l"/>
            <a:pathLst>
              <a:path h="1621639" w="1210148">
                <a:moveTo>
                  <a:pt x="0" y="0"/>
                </a:moveTo>
                <a:lnTo>
                  <a:pt x="1210148" y="0"/>
                </a:lnTo>
                <a:lnTo>
                  <a:pt x="1210148" y="1621639"/>
                </a:lnTo>
                <a:lnTo>
                  <a:pt x="0" y="162163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9144000" y="8043576"/>
            <a:ext cx="1809954" cy="1269230"/>
          </a:xfrm>
          <a:custGeom>
            <a:avLst/>
            <a:gdLst/>
            <a:ahLst/>
            <a:cxnLst/>
            <a:rect r="r" b="b" t="t" l="l"/>
            <a:pathLst>
              <a:path h="1269230" w="1809954">
                <a:moveTo>
                  <a:pt x="0" y="0"/>
                </a:moveTo>
                <a:lnTo>
                  <a:pt x="1809954" y="0"/>
                </a:lnTo>
                <a:lnTo>
                  <a:pt x="1809954" y="1269231"/>
                </a:lnTo>
                <a:lnTo>
                  <a:pt x="0" y="126923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914081" y="725851"/>
            <a:ext cx="11372812" cy="8664015"/>
          </a:xfrm>
          <a:custGeom>
            <a:avLst/>
            <a:gdLst/>
            <a:ahLst/>
            <a:cxnLst/>
            <a:rect r="r" b="b" t="t" l="l"/>
            <a:pathLst>
              <a:path h="8664015" w="11372812">
                <a:moveTo>
                  <a:pt x="0" y="0"/>
                </a:moveTo>
                <a:lnTo>
                  <a:pt x="11372812" y="0"/>
                </a:lnTo>
                <a:lnTo>
                  <a:pt x="11372812" y="8664015"/>
                </a:lnTo>
                <a:lnTo>
                  <a:pt x="0" y="8664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568715" y="916750"/>
            <a:ext cx="7217710" cy="998321"/>
          </a:xfrm>
          <a:prstGeom prst="rect">
            <a:avLst/>
          </a:prstGeom>
        </p:spPr>
        <p:txBody>
          <a:bodyPr anchor="t" rtlCol="false" tIns="0" lIns="0" bIns="0" rIns="0">
            <a:spAutoFit/>
          </a:bodyPr>
          <a:lstStyle/>
          <a:p>
            <a:pPr algn="l" marL="0" indent="0" lvl="0">
              <a:lnSpc>
                <a:spcPts val="7530"/>
              </a:lnSpc>
              <a:spcBef>
                <a:spcPct val="0"/>
              </a:spcBef>
            </a:pPr>
            <a:r>
              <a:rPr lang="en-US" sz="6908" spc="69">
                <a:solidFill>
                  <a:srgbClr val="074785"/>
                </a:solidFill>
                <a:latin typeface="Sugo Display"/>
                <a:ea typeface="Sugo Display"/>
                <a:cs typeface="Sugo Display"/>
                <a:sym typeface="Sugo Display"/>
              </a:rPr>
              <a:t>Metodología</a:t>
            </a:r>
          </a:p>
        </p:txBody>
      </p:sp>
      <p:sp>
        <p:nvSpPr>
          <p:cNvPr name="TextBox 7" id="7"/>
          <p:cNvSpPr txBox="true"/>
          <p:nvPr/>
        </p:nvSpPr>
        <p:spPr>
          <a:xfrm rot="0">
            <a:off x="1482330" y="2418253"/>
            <a:ext cx="10465551" cy="7244334"/>
          </a:xfrm>
          <a:prstGeom prst="rect">
            <a:avLst/>
          </a:prstGeom>
        </p:spPr>
        <p:txBody>
          <a:bodyPr anchor="t" rtlCol="false" tIns="0" lIns="0" bIns="0" rIns="0">
            <a:spAutoFit/>
          </a:bodyPr>
          <a:lstStyle/>
          <a:p>
            <a:pPr algn="l">
              <a:lnSpc>
                <a:spcPts val="3888"/>
              </a:lnSpc>
            </a:pPr>
            <a:r>
              <a:rPr lang="en-US" sz="2400" spc="115">
                <a:solidFill>
                  <a:srgbClr val="074785"/>
                </a:solidFill>
                <a:latin typeface="Open Sans"/>
                <a:ea typeface="Open Sans"/>
                <a:cs typeface="Open Sans"/>
                <a:sym typeface="Open Sans"/>
              </a:rPr>
              <a:t>Dada la naturaleza del proyecto, es necesario señalar:</a:t>
            </a:r>
          </a:p>
          <a:p>
            <a:pPr algn="l">
              <a:lnSpc>
                <a:spcPts val="3888"/>
              </a:lnSpc>
            </a:pP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Será necesario probar, de entre muchos modelos, el posible mejor modelo de IA para el software, lo que requerirá cambios constantes.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La arquitectura también estará afecta a cambios constantes si así se requiere, para priorizar latencia y funcionalidad.</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Se necesitan ver resultados parciales funcionales.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El software será modular y su calidad dependerá de pruebas continuas.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 </a:t>
            </a:r>
            <a:r>
              <a:rPr lang="en-US" b="true" sz="2400" i="true" spc="115">
                <a:solidFill>
                  <a:srgbClr val="074785"/>
                </a:solidFill>
                <a:latin typeface="Open Sans Bold Italics"/>
                <a:ea typeface="Open Sans Bold Italics"/>
                <a:cs typeface="Open Sans Bold Italics"/>
                <a:sym typeface="Open Sans Bold Italics"/>
              </a:rPr>
              <a:t>Alta incertidumbre técnica.</a:t>
            </a:r>
          </a:p>
          <a:p>
            <a:pPr algn="l">
              <a:lnSpc>
                <a:spcPts val="3888"/>
              </a:lnSpc>
            </a:pPr>
          </a:p>
          <a:p>
            <a:pPr algn="l">
              <a:lnSpc>
                <a:spcPts val="3888"/>
              </a:lnSpc>
            </a:pPr>
            <a:r>
              <a:rPr lang="en-US" sz="2400" spc="115">
                <a:solidFill>
                  <a:srgbClr val="074785"/>
                </a:solidFill>
                <a:latin typeface="Open Sans"/>
                <a:ea typeface="Open Sans"/>
                <a:cs typeface="Open Sans"/>
                <a:sym typeface="Open Sans"/>
              </a:rPr>
              <a:t>Dicho esto, la metodología usada será </a:t>
            </a:r>
            <a:r>
              <a:rPr lang="en-US" b="true" sz="2400" i="true" spc="115">
                <a:solidFill>
                  <a:srgbClr val="074785"/>
                </a:solidFill>
                <a:latin typeface="Open Sans Bold Italics"/>
                <a:ea typeface="Open Sans Bold Italics"/>
                <a:cs typeface="Open Sans Bold Italics"/>
                <a:sym typeface="Open Sans Bold Italics"/>
              </a:rPr>
              <a:t>ágil con scrum.</a:t>
            </a:r>
          </a:p>
          <a:p>
            <a:pPr algn="l">
              <a:lnSpc>
                <a:spcPts val="3888"/>
              </a:lnSpc>
            </a:pPr>
          </a:p>
          <a:p>
            <a:pPr algn="l">
              <a:lnSpc>
                <a:spcPts val="3888"/>
              </a:lnSpc>
            </a:pPr>
          </a:p>
        </p:txBody>
      </p:sp>
      <p:sp>
        <p:nvSpPr>
          <p:cNvPr name="Freeform 8" id="8"/>
          <p:cNvSpPr/>
          <p:nvPr/>
        </p:nvSpPr>
        <p:spPr>
          <a:xfrm flipH="false" flipV="false" rot="0">
            <a:off x="14058984" y="2944618"/>
            <a:ext cx="1767301" cy="1726800"/>
          </a:xfrm>
          <a:custGeom>
            <a:avLst/>
            <a:gdLst/>
            <a:ahLst/>
            <a:cxnLst/>
            <a:rect r="r" b="b" t="t" l="l"/>
            <a:pathLst>
              <a:path h="1726800" w="1767301">
                <a:moveTo>
                  <a:pt x="0" y="0"/>
                </a:moveTo>
                <a:lnTo>
                  <a:pt x="1767301" y="0"/>
                </a:lnTo>
                <a:lnTo>
                  <a:pt x="1767301" y="1726801"/>
                </a:lnTo>
                <a:lnTo>
                  <a:pt x="0" y="17268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248159" y="6480394"/>
            <a:ext cx="1694475" cy="2148304"/>
          </a:xfrm>
          <a:custGeom>
            <a:avLst/>
            <a:gdLst/>
            <a:ahLst/>
            <a:cxnLst/>
            <a:rect r="r" b="b" t="t" l="l"/>
            <a:pathLst>
              <a:path h="2148304" w="1694475">
                <a:moveTo>
                  <a:pt x="0" y="0"/>
                </a:moveTo>
                <a:lnTo>
                  <a:pt x="1694475" y="0"/>
                </a:lnTo>
                <a:lnTo>
                  <a:pt x="1694475" y="2148304"/>
                </a:lnTo>
                <a:lnTo>
                  <a:pt x="0" y="2148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399662" y="5292349"/>
            <a:ext cx="2031289" cy="1581866"/>
          </a:xfrm>
          <a:custGeom>
            <a:avLst/>
            <a:gdLst/>
            <a:ahLst/>
            <a:cxnLst/>
            <a:rect r="r" b="b" t="t" l="l"/>
            <a:pathLst>
              <a:path h="1581866" w="2031289">
                <a:moveTo>
                  <a:pt x="0" y="0"/>
                </a:moveTo>
                <a:lnTo>
                  <a:pt x="2031289" y="0"/>
                </a:lnTo>
                <a:lnTo>
                  <a:pt x="2031289" y="1581866"/>
                </a:lnTo>
                <a:lnTo>
                  <a:pt x="0" y="15818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588750" y="7554546"/>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2" id="12"/>
          <p:cNvSpPr/>
          <p:nvPr/>
        </p:nvSpPr>
        <p:spPr>
          <a:xfrm flipH="false" flipV="false" rot="0">
            <a:off x="14729111" y="9258300"/>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sp>
        <p:nvSpPr>
          <p:cNvPr name="Freeform 2" id="2"/>
          <p:cNvSpPr/>
          <p:nvPr/>
        </p:nvSpPr>
        <p:spPr>
          <a:xfrm flipH="false" flipV="false" rot="0">
            <a:off x="10903918" y="0"/>
            <a:ext cx="7136287" cy="6181808"/>
          </a:xfrm>
          <a:custGeom>
            <a:avLst/>
            <a:gdLst/>
            <a:ahLst/>
            <a:cxnLst/>
            <a:rect r="r" b="b" t="t" l="l"/>
            <a:pathLst>
              <a:path h="6181808" w="7136287">
                <a:moveTo>
                  <a:pt x="0" y="0"/>
                </a:moveTo>
                <a:lnTo>
                  <a:pt x="7136287" y="0"/>
                </a:lnTo>
                <a:lnTo>
                  <a:pt x="7136287" y="6181808"/>
                </a:lnTo>
                <a:lnTo>
                  <a:pt x="0" y="61818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52525" y="586420"/>
            <a:ext cx="9539317" cy="1606522"/>
            <a:chOff x="0" y="0"/>
            <a:chExt cx="4757398" cy="801196"/>
          </a:xfrm>
        </p:grpSpPr>
        <p:sp>
          <p:nvSpPr>
            <p:cNvPr name="Freeform 4" id="4"/>
            <p:cNvSpPr/>
            <p:nvPr/>
          </p:nvSpPr>
          <p:spPr>
            <a:xfrm flipH="false" flipV="false" rot="0">
              <a:off x="0" y="0"/>
              <a:ext cx="4757398" cy="801196"/>
            </a:xfrm>
            <a:custGeom>
              <a:avLst/>
              <a:gdLst/>
              <a:ahLst/>
              <a:cxnLst/>
              <a:rect r="r" b="b" t="t" l="l"/>
              <a:pathLst>
                <a:path h="801196" w="4757398">
                  <a:moveTo>
                    <a:pt x="12985" y="0"/>
                  </a:moveTo>
                  <a:lnTo>
                    <a:pt x="4744412" y="0"/>
                  </a:lnTo>
                  <a:cubicBezTo>
                    <a:pt x="4747856" y="0"/>
                    <a:pt x="4751159" y="1368"/>
                    <a:pt x="4753594" y="3803"/>
                  </a:cubicBezTo>
                  <a:cubicBezTo>
                    <a:pt x="4756029" y="6239"/>
                    <a:pt x="4757398" y="9541"/>
                    <a:pt x="4757398" y="12985"/>
                  </a:cubicBezTo>
                  <a:lnTo>
                    <a:pt x="4757398" y="788211"/>
                  </a:lnTo>
                  <a:cubicBezTo>
                    <a:pt x="4757398" y="791655"/>
                    <a:pt x="4756029" y="794958"/>
                    <a:pt x="4753594" y="797393"/>
                  </a:cubicBezTo>
                  <a:cubicBezTo>
                    <a:pt x="4751159" y="799828"/>
                    <a:pt x="4747856" y="801196"/>
                    <a:pt x="4744412" y="801196"/>
                  </a:cubicBezTo>
                  <a:lnTo>
                    <a:pt x="12985" y="801196"/>
                  </a:lnTo>
                  <a:cubicBezTo>
                    <a:pt x="9541" y="801196"/>
                    <a:pt x="6239" y="799828"/>
                    <a:pt x="3803" y="797393"/>
                  </a:cubicBezTo>
                  <a:cubicBezTo>
                    <a:pt x="1368" y="794958"/>
                    <a:pt x="0" y="791655"/>
                    <a:pt x="0" y="788211"/>
                  </a:cubicBezTo>
                  <a:lnTo>
                    <a:pt x="0" y="12985"/>
                  </a:lnTo>
                  <a:cubicBezTo>
                    <a:pt x="0" y="9541"/>
                    <a:pt x="1368" y="6239"/>
                    <a:pt x="3803" y="3803"/>
                  </a:cubicBezTo>
                  <a:cubicBezTo>
                    <a:pt x="6239" y="1368"/>
                    <a:pt x="9541" y="0"/>
                    <a:pt x="12985" y="0"/>
                  </a:cubicBezTo>
                  <a:close/>
                </a:path>
              </a:pathLst>
            </a:custGeom>
            <a:solidFill>
              <a:srgbClr val="FFFFFF"/>
            </a:solidFill>
            <a:ln w="57150" cap="sq">
              <a:solidFill>
                <a:srgbClr val="074785"/>
              </a:solidFill>
              <a:prstDash val="solid"/>
              <a:miter/>
            </a:ln>
          </p:spPr>
        </p:sp>
        <p:sp>
          <p:nvSpPr>
            <p:cNvPr name="TextBox 5" id="5"/>
            <p:cNvSpPr txBox="true"/>
            <p:nvPr/>
          </p:nvSpPr>
          <p:spPr>
            <a:xfrm>
              <a:off x="0" y="-47625"/>
              <a:ext cx="4757398" cy="848821"/>
            </a:xfrm>
            <a:prstGeom prst="rect">
              <a:avLst/>
            </a:prstGeom>
          </p:spPr>
          <p:txBody>
            <a:bodyPr anchor="ctr" rtlCol="false" tIns="50800" lIns="50800" bIns="50800" rIns="50800"/>
            <a:lstStyle/>
            <a:p>
              <a:pPr algn="ctr">
                <a:lnSpc>
                  <a:spcPts val="3214"/>
                </a:lnSpc>
              </a:pPr>
            </a:p>
          </p:txBody>
        </p:sp>
      </p:grpSp>
      <p:grpSp>
        <p:nvGrpSpPr>
          <p:cNvPr name="Group 6" id="6"/>
          <p:cNvGrpSpPr/>
          <p:nvPr/>
        </p:nvGrpSpPr>
        <p:grpSpPr>
          <a:xfrm rot="0">
            <a:off x="146342" y="2973992"/>
            <a:ext cx="4412198" cy="4593678"/>
            <a:chOff x="0" y="0"/>
            <a:chExt cx="1592914" cy="1658433"/>
          </a:xfrm>
        </p:grpSpPr>
        <p:sp>
          <p:nvSpPr>
            <p:cNvPr name="Freeform 7" id="7"/>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8" id="8"/>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9" id="9"/>
          <p:cNvGrpSpPr/>
          <p:nvPr/>
        </p:nvGrpSpPr>
        <p:grpSpPr>
          <a:xfrm rot="0">
            <a:off x="4684177" y="2973992"/>
            <a:ext cx="4412198" cy="4593678"/>
            <a:chOff x="0" y="0"/>
            <a:chExt cx="1592914" cy="1658433"/>
          </a:xfrm>
        </p:grpSpPr>
        <p:sp>
          <p:nvSpPr>
            <p:cNvPr name="Freeform 10" id="10"/>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1" id="11"/>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12" id="12"/>
          <p:cNvGrpSpPr/>
          <p:nvPr/>
        </p:nvGrpSpPr>
        <p:grpSpPr>
          <a:xfrm rot="0">
            <a:off x="9220200" y="2973992"/>
            <a:ext cx="4412198" cy="4593678"/>
            <a:chOff x="0" y="0"/>
            <a:chExt cx="1592914" cy="1658433"/>
          </a:xfrm>
        </p:grpSpPr>
        <p:sp>
          <p:nvSpPr>
            <p:cNvPr name="Freeform 13" id="13"/>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4" id="14"/>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15" id="15"/>
          <p:cNvGrpSpPr/>
          <p:nvPr/>
        </p:nvGrpSpPr>
        <p:grpSpPr>
          <a:xfrm rot="0">
            <a:off x="13756223" y="2973992"/>
            <a:ext cx="4412198" cy="4593678"/>
            <a:chOff x="0" y="0"/>
            <a:chExt cx="1592914" cy="1658433"/>
          </a:xfrm>
        </p:grpSpPr>
        <p:sp>
          <p:nvSpPr>
            <p:cNvPr name="Freeform 16" id="16"/>
            <p:cNvSpPr/>
            <p:nvPr/>
          </p:nvSpPr>
          <p:spPr>
            <a:xfrm flipH="false" flipV="false" rot="0">
              <a:off x="0" y="0"/>
              <a:ext cx="1592914" cy="1658433"/>
            </a:xfrm>
            <a:custGeom>
              <a:avLst/>
              <a:gdLst/>
              <a:ahLst/>
              <a:cxnLst/>
              <a:rect r="r" b="b" t="t" l="l"/>
              <a:pathLst>
                <a:path h="1658433" w="1592914">
                  <a:moveTo>
                    <a:pt x="28075" y="0"/>
                  </a:moveTo>
                  <a:lnTo>
                    <a:pt x="1564840" y="0"/>
                  </a:lnTo>
                  <a:cubicBezTo>
                    <a:pt x="1572286" y="0"/>
                    <a:pt x="1579427" y="2958"/>
                    <a:pt x="1584692" y="8223"/>
                  </a:cubicBezTo>
                  <a:cubicBezTo>
                    <a:pt x="1589957" y="13488"/>
                    <a:pt x="1592914" y="20629"/>
                    <a:pt x="1592914" y="28075"/>
                  </a:cubicBezTo>
                  <a:lnTo>
                    <a:pt x="1592914" y="1630359"/>
                  </a:lnTo>
                  <a:cubicBezTo>
                    <a:pt x="1592914" y="1637804"/>
                    <a:pt x="1589957" y="1644945"/>
                    <a:pt x="1584692" y="1650210"/>
                  </a:cubicBezTo>
                  <a:cubicBezTo>
                    <a:pt x="1579427" y="1655476"/>
                    <a:pt x="1572286" y="1658433"/>
                    <a:pt x="1564840" y="1658433"/>
                  </a:cubicBezTo>
                  <a:lnTo>
                    <a:pt x="28075" y="1658433"/>
                  </a:lnTo>
                  <a:cubicBezTo>
                    <a:pt x="20629" y="1658433"/>
                    <a:pt x="13488" y="1655476"/>
                    <a:pt x="8223" y="1650210"/>
                  </a:cubicBezTo>
                  <a:cubicBezTo>
                    <a:pt x="2958" y="1644945"/>
                    <a:pt x="0" y="1637804"/>
                    <a:pt x="0" y="1630359"/>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7" id="17"/>
            <p:cNvSpPr txBox="true"/>
            <p:nvPr/>
          </p:nvSpPr>
          <p:spPr>
            <a:xfrm>
              <a:off x="0" y="-47625"/>
              <a:ext cx="1592914" cy="1706058"/>
            </a:xfrm>
            <a:prstGeom prst="rect">
              <a:avLst/>
            </a:prstGeom>
          </p:spPr>
          <p:txBody>
            <a:bodyPr anchor="ctr" rtlCol="false" tIns="50800" lIns="50800" bIns="50800" rIns="50800"/>
            <a:lstStyle/>
            <a:p>
              <a:pPr algn="ctr" marL="0" indent="0" lvl="0">
                <a:lnSpc>
                  <a:spcPts val="3214"/>
                </a:lnSpc>
                <a:spcBef>
                  <a:spcPct val="0"/>
                </a:spcBef>
              </a:pPr>
            </a:p>
          </p:txBody>
        </p:sp>
      </p:grpSp>
      <p:grpSp>
        <p:nvGrpSpPr>
          <p:cNvPr name="Group 18" id="18"/>
          <p:cNvGrpSpPr/>
          <p:nvPr/>
        </p:nvGrpSpPr>
        <p:grpSpPr>
          <a:xfrm rot="0">
            <a:off x="3236383" y="3226347"/>
            <a:ext cx="1041709" cy="266108"/>
            <a:chOff x="0" y="0"/>
            <a:chExt cx="1388946" cy="354811"/>
          </a:xfrm>
        </p:grpSpPr>
        <p:sp>
          <p:nvSpPr>
            <p:cNvPr name="Freeform 19" id="19"/>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0" id="20"/>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509452" y="0"/>
              <a:ext cx="364183" cy="354811"/>
              <a:chOff x="0" y="0"/>
              <a:chExt cx="239535" cy="233371"/>
            </a:xfrm>
          </p:grpSpPr>
          <p:sp>
            <p:nvSpPr>
              <p:cNvPr name="Freeform 22" id="22"/>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23" id="23"/>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grpSp>
        <p:nvGrpSpPr>
          <p:cNvPr name="Group 24" id="24"/>
          <p:cNvGrpSpPr/>
          <p:nvPr/>
        </p:nvGrpSpPr>
        <p:grpSpPr>
          <a:xfrm rot="0">
            <a:off x="7774218" y="3226347"/>
            <a:ext cx="1041709" cy="266108"/>
            <a:chOff x="0" y="0"/>
            <a:chExt cx="1388946" cy="354811"/>
          </a:xfrm>
        </p:grpSpPr>
        <p:sp>
          <p:nvSpPr>
            <p:cNvPr name="Freeform 25" id="25"/>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6" id="26"/>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7" id="27"/>
            <p:cNvGrpSpPr/>
            <p:nvPr/>
          </p:nvGrpSpPr>
          <p:grpSpPr>
            <a:xfrm rot="0">
              <a:off x="509452" y="0"/>
              <a:ext cx="364183" cy="354811"/>
              <a:chOff x="0" y="0"/>
              <a:chExt cx="239535" cy="233371"/>
            </a:xfrm>
          </p:grpSpPr>
          <p:sp>
            <p:nvSpPr>
              <p:cNvPr name="Freeform 28" id="28"/>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29" id="29"/>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grpSp>
        <p:nvGrpSpPr>
          <p:cNvPr name="Group 30" id="30"/>
          <p:cNvGrpSpPr/>
          <p:nvPr/>
        </p:nvGrpSpPr>
        <p:grpSpPr>
          <a:xfrm rot="0">
            <a:off x="12487275" y="3226347"/>
            <a:ext cx="1041709" cy="266108"/>
            <a:chOff x="0" y="0"/>
            <a:chExt cx="1388946" cy="354811"/>
          </a:xfrm>
        </p:grpSpPr>
        <p:sp>
          <p:nvSpPr>
            <p:cNvPr name="Freeform 31" id="31"/>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32" id="32"/>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509452" y="0"/>
              <a:ext cx="364183" cy="354811"/>
              <a:chOff x="0" y="0"/>
              <a:chExt cx="239535" cy="233371"/>
            </a:xfrm>
          </p:grpSpPr>
          <p:sp>
            <p:nvSpPr>
              <p:cNvPr name="Freeform 34" id="34"/>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35" id="35"/>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grpSp>
        <p:nvGrpSpPr>
          <p:cNvPr name="Group 36" id="36"/>
          <p:cNvGrpSpPr/>
          <p:nvPr/>
        </p:nvGrpSpPr>
        <p:grpSpPr>
          <a:xfrm rot="0">
            <a:off x="16851848" y="3226347"/>
            <a:ext cx="1041709" cy="266108"/>
            <a:chOff x="0" y="0"/>
            <a:chExt cx="1388946" cy="354811"/>
          </a:xfrm>
        </p:grpSpPr>
        <p:sp>
          <p:nvSpPr>
            <p:cNvPr name="Freeform 37" id="37"/>
            <p:cNvSpPr/>
            <p:nvPr/>
          </p:nvSpPr>
          <p:spPr>
            <a:xfrm flipH="false" flipV="false" rot="0">
              <a:off x="0" y="144850"/>
              <a:ext cx="401777" cy="75333"/>
            </a:xfrm>
            <a:custGeom>
              <a:avLst/>
              <a:gdLst/>
              <a:ahLst/>
              <a:cxnLst/>
              <a:rect r="r" b="b" t="t" l="l"/>
              <a:pathLst>
                <a:path h="75333" w="401777">
                  <a:moveTo>
                    <a:pt x="0" y="0"/>
                  </a:moveTo>
                  <a:lnTo>
                    <a:pt x="401777" y="0"/>
                  </a:lnTo>
                  <a:lnTo>
                    <a:pt x="401777" y="75333"/>
                  </a:lnTo>
                  <a:lnTo>
                    <a:pt x="0" y="753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38" id="38"/>
            <p:cNvSpPr/>
            <p:nvPr/>
          </p:nvSpPr>
          <p:spPr>
            <a:xfrm flipH="false" flipV="false" rot="0">
              <a:off x="1032781" y="10222"/>
              <a:ext cx="356165" cy="344589"/>
            </a:xfrm>
            <a:custGeom>
              <a:avLst/>
              <a:gdLst/>
              <a:ahLst/>
              <a:cxnLst/>
              <a:rect r="r" b="b" t="t" l="l"/>
              <a:pathLst>
                <a:path h="344589" w="356165">
                  <a:moveTo>
                    <a:pt x="0" y="0"/>
                  </a:moveTo>
                  <a:lnTo>
                    <a:pt x="356165" y="0"/>
                  </a:lnTo>
                  <a:lnTo>
                    <a:pt x="356165" y="344589"/>
                  </a:lnTo>
                  <a:lnTo>
                    <a:pt x="0" y="344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9" id="39"/>
            <p:cNvGrpSpPr/>
            <p:nvPr/>
          </p:nvGrpSpPr>
          <p:grpSpPr>
            <a:xfrm rot="0">
              <a:off x="509452" y="0"/>
              <a:ext cx="364183" cy="354811"/>
              <a:chOff x="0" y="0"/>
              <a:chExt cx="239535" cy="233371"/>
            </a:xfrm>
          </p:grpSpPr>
          <p:sp>
            <p:nvSpPr>
              <p:cNvPr name="Freeform 40" id="40"/>
              <p:cNvSpPr/>
              <p:nvPr/>
            </p:nvSpPr>
            <p:spPr>
              <a:xfrm flipH="false" flipV="false" rot="0">
                <a:off x="0" y="0"/>
                <a:ext cx="239535" cy="233371"/>
              </a:xfrm>
              <a:custGeom>
                <a:avLst/>
                <a:gdLst/>
                <a:ahLst/>
                <a:cxnLst/>
                <a:rect r="r" b="b" t="t" l="l"/>
                <a:pathLst>
                  <a:path h="233371" w="239535">
                    <a:moveTo>
                      <a:pt x="93348" y="0"/>
                    </a:moveTo>
                    <a:lnTo>
                      <a:pt x="146187" y="0"/>
                    </a:lnTo>
                    <a:cubicBezTo>
                      <a:pt x="197742" y="0"/>
                      <a:pt x="239535" y="41793"/>
                      <a:pt x="239535" y="93348"/>
                    </a:cubicBezTo>
                    <a:lnTo>
                      <a:pt x="239535" y="140022"/>
                    </a:lnTo>
                    <a:cubicBezTo>
                      <a:pt x="239535" y="191577"/>
                      <a:pt x="197742" y="233371"/>
                      <a:pt x="146187" y="233371"/>
                    </a:cubicBezTo>
                    <a:lnTo>
                      <a:pt x="93348" y="233371"/>
                    </a:lnTo>
                    <a:cubicBezTo>
                      <a:pt x="41793" y="233371"/>
                      <a:pt x="0" y="191577"/>
                      <a:pt x="0" y="140022"/>
                    </a:cubicBezTo>
                    <a:lnTo>
                      <a:pt x="0" y="93348"/>
                    </a:lnTo>
                    <a:cubicBezTo>
                      <a:pt x="0" y="41793"/>
                      <a:pt x="41793" y="0"/>
                      <a:pt x="93348" y="0"/>
                    </a:cubicBezTo>
                    <a:close/>
                  </a:path>
                </a:pathLst>
              </a:custGeom>
              <a:solidFill>
                <a:srgbClr val="FFFFFF"/>
              </a:solidFill>
              <a:ln w="57150" cap="sq">
                <a:solidFill>
                  <a:srgbClr val="074785"/>
                </a:solidFill>
                <a:prstDash val="solid"/>
                <a:miter/>
              </a:ln>
            </p:spPr>
          </p:sp>
          <p:sp>
            <p:nvSpPr>
              <p:cNvPr name="TextBox 41" id="41"/>
              <p:cNvSpPr txBox="true"/>
              <p:nvPr/>
            </p:nvSpPr>
            <p:spPr>
              <a:xfrm>
                <a:off x="0" y="0"/>
                <a:ext cx="239535" cy="233371"/>
              </a:xfrm>
              <a:prstGeom prst="rect">
                <a:avLst/>
              </a:prstGeom>
            </p:spPr>
            <p:txBody>
              <a:bodyPr anchor="ctr" rtlCol="false" tIns="50800" lIns="50800" bIns="50800" rIns="50800"/>
              <a:lstStyle/>
              <a:p>
                <a:pPr algn="ctr" marL="0" indent="0" lvl="0">
                  <a:lnSpc>
                    <a:spcPts val="178"/>
                  </a:lnSpc>
                  <a:spcBef>
                    <a:spcPct val="0"/>
                  </a:spcBef>
                </a:pPr>
              </a:p>
            </p:txBody>
          </p:sp>
        </p:grpSp>
      </p:grpSp>
      <p:sp>
        <p:nvSpPr>
          <p:cNvPr name="Freeform 42" id="42"/>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43" id="43"/>
          <p:cNvSpPr/>
          <p:nvPr/>
        </p:nvSpPr>
        <p:spPr>
          <a:xfrm flipH="false" flipV="false" rot="0">
            <a:off x="10691842" y="387432"/>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44" id="44"/>
          <p:cNvSpPr txBox="true"/>
          <p:nvPr/>
        </p:nvSpPr>
        <p:spPr>
          <a:xfrm rot="0">
            <a:off x="2182395" y="941683"/>
            <a:ext cx="7380422" cy="943619"/>
          </a:xfrm>
          <a:prstGeom prst="rect">
            <a:avLst/>
          </a:prstGeom>
        </p:spPr>
        <p:txBody>
          <a:bodyPr anchor="t" rtlCol="false" tIns="0" lIns="0" bIns="0" rIns="0">
            <a:spAutoFit/>
          </a:bodyPr>
          <a:lstStyle/>
          <a:p>
            <a:pPr algn="l" marL="0" indent="0" lvl="0">
              <a:lnSpc>
                <a:spcPts val="7125"/>
              </a:lnSpc>
              <a:spcBef>
                <a:spcPct val="0"/>
              </a:spcBef>
            </a:pPr>
            <a:r>
              <a:rPr lang="en-US" sz="6536" spc="65">
                <a:solidFill>
                  <a:srgbClr val="074785"/>
                </a:solidFill>
                <a:latin typeface="Sugo Display"/>
                <a:ea typeface="Sugo Display"/>
                <a:cs typeface="Sugo Display"/>
                <a:sym typeface="Sugo Display"/>
              </a:rPr>
              <a:t>Sprints (afecto a cambios)</a:t>
            </a:r>
          </a:p>
        </p:txBody>
      </p:sp>
      <p:sp>
        <p:nvSpPr>
          <p:cNvPr name="TextBox 45" id="45"/>
          <p:cNvSpPr txBox="true"/>
          <p:nvPr/>
        </p:nvSpPr>
        <p:spPr>
          <a:xfrm rot="0">
            <a:off x="319039" y="4498262"/>
            <a:ext cx="4069863" cy="2489029"/>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Creación de la ventana con Overlay e integración con OCR.</a:t>
            </a:r>
          </a:p>
          <a:p>
            <a:pPr algn="l">
              <a:lnSpc>
                <a:spcPts val="3336"/>
              </a:lnSpc>
            </a:pPr>
            <a:r>
              <a:rPr lang="en-US" sz="2059" spc="98">
                <a:solidFill>
                  <a:srgbClr val="074785"/>
                </a:solidFill>
                <a:latin typeface="Open Sans"/>
                <a:ea typeface="Open Sans"/>
                <a:cs typeface="Open Sans"/>
                <a:sym typeface="Open Sans"/>
              </a:rPr>
              <a:t>Comparación de rendimientos y precisión de distintos modelos OCR.</a:t>
            </a:r>
          </a:p>
        </p:txBody>
      </p:sp>
      <p:sp>
        <p:nvSpPr>
          <p:cNvPr name="TextBox 46" id="46"/>
          <p:cNvSpPr txBox="true"/>
          <p:nvPr/>
        </p:nvSpPr>
        <p:spPr>
          <a:xfrm rot="0">
            <a:off x="4855344" y="4498262"/>
            <a:ext cx="4069863" cy="2489029"/>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Elección e integración del modelo de inferencia IA e integración del modelo de traducción.</a:t>
            </a:r>
          </a:p>
          <a:p>
            <a:pPr algn="l">
              <a:lnSpc>
                <a:spcPts val="3336"/>
              </a:lnSpc>
            </a:pPr>
          </a:p>
          <a:p>
            <a:pPr algn="l">
              <a:lnSpc>
                <a:spcPts val="3336"/>
              </a:lnSpc>
            </a:pPr>
            <a:r>
              <a:rPr lang="en-US" sz="2059" spc="98">
                <a:solidFill>
                  <a:srgbClr val="074785"/>
                </a:solidFill>
                <a:latin typeface="Open Sans"/>
                <a:ea typeface="Open Sans"/>
                <a:cs typeface="Open Sans"/>
                <a:sym typeface="Open Sans"/>
              </a:rPr>
              <a:t>Integración módulo de voz.</a:t>
            </a:r>
          </a:p>
        </p:txBody>
      </p:sp>
      <p:sp>
        <p:nvSpPr>
          <p:cNvPr name="TextBox 47" id="47"/>
          <p:cNvSpPr txBox="true"/>
          <p:nvPr/>
        </p:nvSpPr>
        <p:spPr>
          <a:xfrm rot="0">
            <a:off x="9391650" y="4498262"/>
            <a:ext cx="4069863" cy="2068580"/>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Optimización de latencias, precisión y fidelidad del software. </a:t>
            </a:r>
          </a:p>
          <a:p>
            <a:pPr algn="l">
              <a:lnSpc>
                <a:spcPts val="3336"/>
              </a:lnSpc>
            </a:pPr>
            <a:r>
              <a:rPr lang="en-US" sz="2059" spc="98">
                <a:solidFill>
                  <a:srgbClr val="074785"/>
                </a:solidFill>
                <a:latin typeface="Open Sans"/>
                <a:ea typeface="Open Sans"/>
                <a:cs typeface="Open Sans"/>
                <a:sym typeface="Open Sans"/>
              </a:rPr>
              <a:t>Optimización de uso de CPU y agregar posible uso de GPU.</a:t>
            </a:r>
          </a:p>
        </p:txBody>
      </p:sp>
      <p:sp>
        <p:nvSpPr>
          <p:cNvPr name="TextBox 48" id="48"/>
          <p:cNvSpPr txBox="true"/>
          <p:nvPr/>
        </p:nvSpPr>
        <p:spPr>
          <a:xfrm rot="0">
            <a:off x="13927390" y="4498262"/>
            <a:ext cx="4069863" cy="1648132"/>
          </a:xfrm>
          <a:prstGeom prst="rect">
            <a:avLst/>
          </a:prstGeom>
        </p:spPr>
        <p:txBody>
          <a:bodyPr anchor="t" rtlCol="false" tIns="0" lIns="0" bIns="0" rIns="0">
            <a:spAutoFit/>
          </a:bodyPr>
          <a:lstStyle/>
          <a:p>
            <a:pPr algn="l">
              <a:lnSpc>
                <a:spcPts val="3336"/>
              </a:lnSpc>
            </a:pPr>
            <a:r>
              <a:rPr lang="en-US" sz="2059" spc="98">
                <a:solidFill>
                  <a:srgbClr val="074785"/>
                </a:solidFill>
                <a:latin typeface="Open Sans"/>
                <a:ea typeface="Open Sans"/>
                <a:cs typeface="Open Sans"/>
                <a:sym typeface="Open Sans"/>
              </a:rPr>
              <a:t>Creación de fallbacks en caso de falla de algún módulo.</a:t>
            </a:r>
          </a:p>
          <a:p>
            <a:pPr algn="l">
              <a:lnSpc>
                <a:spcPts val="3336"/>
              </a:lnSpc>
            </a:pPr>
            <a:r>
              <a:rPr lang="en-US" sz="2059" spc="98">
                <a:solidFill>
                  <a:srgbClr val="074785"/>
                </a:solidFill>
                <a:latin typeface="Open Sans"/>
                <a:ea typeface="Open Sans"/>
                <a:cs typeface="Open Sans"/>
                <a:sym typeface="Open Sans"/>
              </a:rPr>
              <a:t>Creación de UX-UI.</a:t>
            </a:r>
          </a:p>
          <a:p>
            <a:pPr algn="l">
              <a:lnSpc>
                <a:spcPts val="3336"/>
              </a:lnSpc>
            </a:pPr>
            <a:r>
              <a:rPr lang="en-US" sz="2059" spc="98">
                <a:solidFill>
                  <a:srgbClr val="074785"/>
                </a:solidFill>
                <a:latin typeface="Open Sans"/>
                <a:ea typeface="Open Sans"/>
                <a:cs typeface="Open Sans"/>
                <a:sym typeface="Open Sans"/>
              </a:rPr>
              <a:t>Empaquetado del Software.</a:t>
            </a:r>
          </a:p>
        </p:txBody>
      </p:sp>
      <p:sp>
        <p:nvSpPr>
          <p:cNvPr name="TextBox 49" id="49"/>
          <p:cNvSpPr txBox="true"/>
          <p:nvPr/>
        </p:nvSpPr>
        <p:spPr>
          <a:xfrm rot="0">
            <a:off x="317509"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01</a:t>
            </a:r>
          </a:p>
        </p:txBody>
      </p:sp>
      <p:sp>
        <p:nvSpPr>
          <p:cNvPr name="TextBox 50" id="50"/>
          <p:cNvSpPr txBox="true"/>
          <p:nvPr/>
        </p:nvSpPr>
        <p:spPr>
          <a:xfrm rot="0">
            <a:off x="4855344"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02</a:t>
            </a:r>
          </a:p>
        </p:txBody>
      </p:sp>
      <p:sp>
        <p:nvSpPr>
          <p:cNvPr name="TextBox 51" id="51"/>
          <p:cNvSpPr txBox="true"/>
          <p:nvPr/>
        </p:nvSpPr>
        <p:spPr>
          <a:xfrm rot="0">
            <a:off x="9391367"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03</a:t>
            </a:r>
          </a:p>
        </p:txBody>
      </p:sp>
      <p:sp>
        <p:nvSpPr>
          <p:cNvPr name="TextBox 52" id="52"/>
          <p:cNvSpPr txBox="true"/>
          <p:nvPr/>
        </p:nvSpPr>
        <p:spPr>
          <a:xfrm rot="0">
            <a:off x="13927673" y="3664586"/>
            <a:ext cx="2682201"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Sprint 04</a:t>
            </a:r>
          </a:p>
        </p:txBody>
      </p:sp>
      <p:grpSp>
        <p:nvGrpSpPr>
          <p:cNvPr name="Group 53" id="53"/>
          <p:cNvGrpSpPr/>
          <p:nvPr/>
        </p:nvGrpSpPr>
        <p:grpSpPr>
          <a:xfrm rot="0">
            <a:off x="147872" y="7967720"/>
            <a:ext cx="4412198" cy="1050569"/>
            <a:chOff x="0" y="0"/>
            <a:chExt cx="1592914" cy="379282"/>
          </a:xfrm>
        </p:grpSpPr>
        <p:sp>
          <p:nvSpPr>
            <p:cNvPr name="Freeform 54" id="54"/>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55" id="55"/>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56" id="56"/>
          <p:cNvSpPr txBox="true"/>
          <p:nvPr/>
        </p:nvSpPr>
        <p:spPr>
          <a:xfrm rot="0">
            <a:off x="753448"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grpSp>
        <p:nvGrpSpPr>
          <p:cNvPr name="Group 57" id="57"/>
          <p:cNvGrpSpPr/>
          <p:nvPr/>
        </p:nvGrpSpPr>
        <p:grpSpPr>
          <a:xfrm rot="0">
            <a:off x="4684177" y="7967720"/>
            <a:ext cx="4412198" cy="1050569"/>
            <a:chOff x="0" y="0"/>
            <a:chExt cx="1592914" cy="379282"/>
          </a:xfrm>
        </p:grpSpPr>
        <p:sp>
          <p:nvSpPr>
            <p:cNvPr name="Freeform 58" id="58"/>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59" id="59"/>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60" id="60"/>
          <p:cNvSpPr txBox="true"/>
          <p:nvPr/>
        </p:nvSpPr>
        <p:spPr>
          <a:xfrm rot="0">
            <a:off x="5289753"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grpSp>
        <p:nvGrpSpPr>
          <p:cNvPr name="Group 61" id="61"/>
          <p:cNvGrpSpPr/>
          <p:nvPr/>
        </p:nvGrpSpPr>
        <p:grpSpPr>
          <a:xfrm rot="0">
            <a:off x="9220200" y="7967720"/>
            <a:ext cx="4412198" cy="1050569"/>
            <a:chOff x="0" y="0"/>
            <a:chExt cx="1592914" cy="379282"/>
          </a:xfrm>
        </p:grpSpPr>
        <p:sp>
          <p:nvSpPr>
            <p:cNvPr name="Freeform 62" id="62"/>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63" id="63"/>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64" id="64"/>
          <p:cNvSpPr txBox="true"/>
          <p:nvPr/>
        </p:nvSpPr>
        <p:spPr>
          <a:xfrm rot="0">
            <a:off x="9904584"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grpSp>
        <p:nvGrpSpPr>
          <p:cNvPr name="Group 65" id="65"/>
          <p:cNvGrpSpPr/>
          <p:nvPr/>
        </p:nvGrpSpPr>
        <p:grpSpPr>
          <a:xfrm rot="0">
            <a:off x="13756223" y="7967720"/>
            <a:ext cx="4412198" cy="1050569"/>
            <a:chOff x="0" y="0"/>
            <a:chExt cx="1592914" cy="379282"/>
          </a:xfrm>
        </p:grpSpPr>
        <p:sp>
          <p:nvSpPr>
            <p:cNvPr name="Freeform 66" id="66"/>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67" id="67"/>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68" id="68"/>
          <p:cNvSpPr txBox="true"/>
          <p:nvPr/>
        </p:nvSpPr>
        <p:spPr>
          <a:xfrm rot="0">
            <a:off x="14365823" y="8184429"/>
            <a:ext cx="3197987"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4 Semanas (Días)</a:t>
            </a:r>
          </a:p>
        </p:txBody>
      </p:sp>
      <p:sp>
        <p:nvSpPr>
          <p:cNvPr name="Freeform 69" id="69"/>
          <p:cNvSpPr/>
          <p:nvPr/>
        </p:nvSpPr>
        <p:spPr>
          <a:xfrm flipH="false" flipV="false" rot="0">
            <a:off x="481975" y="9210972"/>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0" id="70"/>
          <p:cNvSpPr/>
          <p:nvPr/>
        </p:nvSpPr>
        <p:spPr>
          <a:xfrm flipH="false" flipV="false" rot="0">
            <a:off x="11044826" y="9210972"/>
            <a:ext cx="1341101" cy="866686"/>
          </a:xfrm>
          <a:custGeom>
            <a:avLst/>
            <a:gdLst/>
            <a:ahLst/>
            <a:cxnLst/>
            <a:rect r="r" b="b" t="t" l="l"/>
            <a:pathLst>
              <a:path h="866686" w="1341101">
                <a:moveTo>
                  <a:pt x="0" y="0"/>
                </a:moveTo>
                <a:lnTo>
                  <a:pt x="1341100" y="0"/>
                </a:lnTo>
                <a:lnTo>
                  <a:pt x="1341100" y="866687"/>
                </a:lnTo>
                <a:lnTo>
                  <a:pt x="0" y="8666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7171034" y="3510630"/>
            <a:ext cx="4266743" cy="426674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074785"/>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214"/>
                </a:lnSpc>
              </a:pPr>
            </a:p>
          </p:txBody>
        </p:sp>
      </p:grpSp>
      <p:grpSp>
        <p:nvGrpSpPr>
          <p:cNvPr name="Group 5" id="5"/>
          <p:cNvGrpSpPr/>
          <p:nvPr/>
        </p:nvGrpSpPr>
        <p:grpSpPr>
          <a:xfrm rot="0">
            <a:off x="868245" y="1482868"/>
            <a:ext cx="4806130" cy="2257309"/>
            <a:chOff x="0" y="0"/>
            <a:chExt cx="2115111" cy="993410"/>
          </a:xfrm>
        </p:grpSpPr>
        <p:sp>
          <p:nvSpPr>
            <p:cNvPr name="Freeform 6" id="6"/>
            <p:cNvSpPr/>
            <p:nvPr/>
          </p:nvSpPr>
          <p:spPr>
            <a:xfrm flipH="false" flipV="false" rot="0">
              <a:off x="0" y="0"/>
              <a:ext cx="2115111" cy="993410"/>
            </a:xfrm>
            <a:custGeom>
              <a:avLst/>
              <a:gdLst/>
              <a:ahLst/>
              <a:cxnLst/>
              <a:rect r="r" b="b" t="t" l="l"/>
              <a:pathLst>
                <a:path h="993410" w="2115111">
                  <a:moveTo>
                    <a:pt x="25773" y="0"/>
                  </a:moveTo>
                  <a:lnTo>
                    <a:pt x="2089337" y="0"/>
                  </a:lnTo>
                  <a:cubicBezTo>
                    <a:pt x="2096173" y="0"/>
                    <a:pt x="2102728" y="2715"/>
                    <a:pt x="2107562" y="7549"/>
                  </a:cubicBezTo>
                  <a:cubicBezTo>
                    <a:pt x="2112395" y="12382"/>
                    <a:pt x="2115111" y="18938"/>
                    <a:pt x="2115111" y="25773"/>
                  </a:cubicBezTo>
                  <a:lnTo>
                    <a:pt x="2115111" y="967636"/>
                  </a:lnTo>
                  <a:cubicBezTo>
                    <a:pt x="2115111" y="981871"/>
                    <a:pt x="2103571" y="993410"/>
                    <a:pt x="2089337" y="993410"/>
                  </a:cubicBezTo>
                  <a:lnTo>
                    <a:pt x="25773" y="993410"/>
                  </a:lnTo>
                  <a:cubicBezTo>
                    <a:pt x="11539" y="993410"/>
                    <a:pt x="0" y="981871"/>
                    <a:pt x="0" y="967636"/>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7" id="7"/>
            <p:cNvSpPr txBox="true"/>
            <p:nvPr/>
          </p:nvSpPr>
          <p:spPr>
            <a:xfrm>
              <a:off x="0" y="-47625"/>
              <a:ext cx="2115111" cy="1041035"/>
            </a:xfrm>
            <a:prstGeom prst="rect">
              <a:avLst/>
            </a:prstGeom>
          </p:spPr>
          <p:txBody>
            <a:bodyPr anchor="ctr" rtlCol="false" tIns="50800" lIns="50800" bIns="50800" rIns="50800"/>
            <a:lstStyle/>
            <a:p>
              <a:pPr algn="ctr">
                <a:lnSpc>
                  <a:spcPts val="3214"/>
                </a:lnSpc>
              </a:pPr>
            </a:p>
          </p:txBody>
        </p:sp>
      </p:grpSp>
      <p:grpSp>
        <p:nvGrpSpPr>
          <p:cNvPr name="Group 8" id="8"/>
          <p:cNvGrpSpPr/>
          <p:nvPr/>
        </p:nvGrpSpPr>
        <p:grpSpPr>
          <a:xfrm rot="0">
            <a:off x="868245" y="4456044"/>
            <a:ext cx="4806130" cy="2340767"/>
            <a:chOff x="0" y="0"/>
            <a:chExt cx="2115111" cy="1030139"/>
          </a:xfrm>
        </p:grpSpPr>
        <p:sp>
          <p:nvSpPr>
            <p:cNvPr name="Freeform 9" id="9"/>
            <p:cNvSpPr/>
            <p:nvPr/>
          </p:nvSpPr>
          <p:spPr>
            <a:xfrm flipH="false" flipV="false" rot="0">
              <a:off x="0" y="0"/>
              <a:ext cx="2115111" cy="1030139"/>
            </a:xfrm>
            <a:custGeom>
              <a:avLst/>
              <a:gdLst/>
              <a:ahLst/>
              <a:cxnLst/>
              <a:rect r="r" b="b" t="t" l="l"/>
              <a:pathLst>
                <a:path h="1030139" w="2115111">
                  <a:moveTo>
                    <a:pt x="25773" y="0"/>
                  </a:moveTo>
                  <a:lnTo>
                    <a:pt x="2089337" y="0"/>
                  </a:lnTo>
                  <a:cubicBezTo>
                    <a:pt x="2096173" y="0"/>
                    <a:pt x="2102728" y="2715"/>
                    <a:pt x="2107562" y="7549"/>
                  </a:cubicBezTo>
                  <a:cubicBezTo>
                    <a:pt x="2112395" y="12382"/>
                    <a:pt x="2115111" y="18938"/>
                    <a:pt x="2115111" y="25773"/>
                  </a:cubicBezTo>
                  <a:lnTo>
                    <a:pt x="2115111" y="1004366"/>
                  </a:lnTo>
                  <a:cubicBezTo>
                    <a:pt x="2115111" y="1018600"/>
                    <a:pt x="2103571" y="1030139"/>
                    <a:pt x="2089337" y="1030139"/>
                  </a:cubicBezTo>
                  <a:lnTo>
                    <a:pt x="25773" y="1030139"/>
                  </a:lnTo>
                  <a:cubicBezTo>
                    <a:pt x="11539" y="1030139"/>
                    <a:pt x="0" y="1018600"/>
                    <a:pt x="0" y="1004366"/>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0" id="10"/>
            <p:cNvSpPr txBox="true"/>
            <p:nvPr/>
          </p:nvSpPr>
          <p:spPr>
            <a:xfrm>
              <a:off x="0" y="-47625"/>
              <a:ext cx="2115111" cy="1077764"/>
            </a:xfrm>
            <a:prstGeom prst="rect">
              <a:avLst/>
            </a:prstGeom>
          </p:spPr>
          <p:txBody>
            <a:bodyPr anchor="ctr" rtlCol="false" tIns="50800" lIns="50800" bIns="50800" rIns="50800"/>
            <a:lstStyle/>
            <a:p>
              <a:pPr algn="ctr">
                <a:lnSpc>
                  <a:spcPts val="3214"/>
                </a:lnSpc>
              </a:pPr>
            </a:p>
          </p:txBody>
        </p:sp>
      </p:grpSp>
      <p:grpSp>
        <p:nvGrpSpPr>
          <p:cNvPr name="Group 11" id="11"/>
          <p:cNvGrpSpPr/>
          <p:nvPr/>
        </p:nvGrpSpPr>
        <p:grpSpPr>
          <a:xfrm rot="0">
            <a:off x="868245" y="7926988"/>
            <a:ext cx="4806130" cy="2054220"/>
            <a:chOff x="0" y="0"/>
            <a:chExt cx="2115111" cy="904033"/>
          </a:xfrm>
        </p:grpSpPr>
        <p:sp>
          <p:nvSpPr>
            <p:cNvPr name="Freeform 12" id="12"/>
            <p:cNvSpPr/>
            <p:nvPr/>
          </p:nvSpPr>
          <p:spPr>
            <a:xfrm flipH="false" flipV="false" rot="0">
              <a:off x="0" y="0"/>
              <a:ext cx="2115111" cy="904033"/>
            </a:xfrm>
            <a:custGeom>
              <a:avLst/>
              <a:gdLst/>
              <a:ahLst/>
              <a:cxnLst/>
              <a:rect r="r" b="b" t="t" l="l"/>
              <a:pathLst>
                <a:path h="904033" w="2115111">
                  <a:moveTo>
                    <a:pt x="25773" y="0"/>
                  </a:moveTo>
                  <a:lnTo>
                    <a:pt x="2089337" y="0"/>
                  </a:lnTo>
                  <a:cubicBezTo>
                    <a:pt x="2096173" y="0"/>
                    <a:pt x="2102728" y="2715"/>
                    <a:pt x="2107562" y="7549"/>
                  </a:cubicBezTo>
                  <a:cubicBezTo>
                    <a:pt x="2112395" y="12382"/>
                    <a:pt x="2115111" y="18938"/>
                    <a:pt x="2115111" y="25773"/>
                  </a:cubicBezTo>
                  <a:lnTo>
                    <a:pt x="2115111" y="878260"/>
                  </a:lnTo>
                  <a:cubicBezTo>
                    <a:pt x="2115111" y="892494"/>
                    <a:pt x="2103571" y="904033"/>
                    <a:pt x="2089337" y="904033"/>
                  </a:cubicBezTo>
                  <a:lnTo>
                    <a:pt x="25773" y="904033"/>
                  </a:lnTo>
                  <a:cubicBezTo>
                    <a:pt x="11539" y="904033"/>
                    <a:pt x="0" y="892494"/>
                    <a:pt x="0" y="878260"/>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3" id="13"/>
            <p:cNvSpPr txBox="true"/>
            <p:nvPr/>
          </p:nvSpPr>
          <p:spPr>
            <a:xfrm>
              <a:off x="0" y="-47625"/>
              <a:ext cx="2115111" cy="951658"/>
            </a:xfrm>
            <a:prstGeom prst="rect">
              <a:avLst/>
            </a:prstGeom>
          </p:spPr>
          <p:txBody>
            <a:bodyPr anchor="ctr" rtlCol="false" tIns="50800" lIns="50800" bIns="50800" rIns="50800"/>
            <a:lstStyle/>
            <a:p>
              <a:pPr algn="ctr">
                <a:lnSpc>
                  <a:spcPts val="3214"/>
                </a:lnSpc>
              </a:pPr>
            </a:p>
          </p:txBody>
        </p:sp>
      </p:grpSp>
      <p:grpSp>
        <p:nvGrpSpPr>
          <p:cNvPr name="Group 14" id="14"/>
          <p:cNvGrpSpPr/>
          <p:nvPr/>
        </p:nvGrpSpPr>
        <p:grpSpPr>
          <a:xfrm rot="0">
            <a:off x="12613626" y="1462043"/>
            <a:ext cx="4806130" cy="1882291"/>
            <a:chOff x="0" y="0"/>
            <a:chExt cx="2115111" cy="828370"/>
          </a:xfrm>
        </p:grpSpPr>
        <p:sp>
          <p:nvSpPr>
            <p:cNvPr name="Freeform 15" id="15"/>
            <p:cNvSpPr/>
            <p:nvPr/>
          </p:nvSpPr>
          <p:spPr>
            <a:xfrm flipH="false" flipV="false" rot="0">
              <a:off x="0" y="0"/>
              <a:ext cx="2115111" cy="828370"/>
            </a:xfrm>
            <a:custGeom>
              <a:avLst/>
              <a:gdLst/>
              <a:ahLst/>
              <a:cxnLst/>
              <a:rect r="r" b="b" t="t" l="l"/>
              <a:pathLst>
                <a:path h="828370" w="2115111">
                  <a:moveTo>
                    <a:pt x="25773" y="0"/>
                  </a:moveTo>
                  <a:lnTo>
                    <a:pt x="2089337" y="0"/>
                  </a:lnTo>
                  <a:cubicBezTo>
                    <a:pt x="2096173" y="0"/>
                    <a:pt x="2102728" y="2715"/>
                    <a:pt x="2107562" y="7549"/>
                  </a:cubicBezTo>
                  <a:cubicBezTo>
                    <a:pt x="2112395" y="12382"/>
                    <a:pt x="2115111" y="18938"/>
                    <a:pt x="2115111" y="25773"/>
                  </a:cubicBezTo>
                  <a:lnTo>
                    <a:pt x="2115111" y="802597"/>
                  </a:lnTo>
                  <a:cubicBezTo>
                    <a:pt x="2115111" y="816831"/>
                    <a:pt x="2103571" y="828370"/>
                    <a:pt x="2089337" y="828370"/>
                  </a:cubicBezTo>
                  <a:lnTo>
                    <a:pt x="25773" y="828370"/>
                  </a:lnTo>
                  <a:cubicBezTo>
                    <a:pt x="11539" y="828370"/>
                    <a:pt x="0" y="816831"/>
                    <a:pt x="0" y="802597"/>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6" id="16"/>
            <p:cNvSpPr txBox="true"/>
            <p:nvPr/>
          </p:nvSpPr>
          <p:spPr>
            <a:xfrm>
              <a:off x="0" y="-47625"/>
              <a:ext cx="2115111" cy="875995"/>
            </a:xfrm>
            <a:prstGeom prst="rect">
              <a:avLst/>
            </a:prstGeom>
          </p:spPr>
          <p:txBody>
            <a:bodyPr anchor="ctr" rtlCol="false" tIns="50800" lIns="50800" bIns="50800" rIns="50800"/>
            <a:lstStyle/>
            <a:p>
              <a:pPr algn="ctr">
                <a:lnSpc>
                  <a:spcPts val="3214"/>
                </a:lnSpc>
              </a:pPr>
            </a:p>
          </p:txBody>
        </p:sp>
      </p:grpSp>
      <p:grpSp>
        <p:nvGrpSpPr>
          <p:cNvPr name="Group 17" id="17"/>
          <p:cNvGrpSpPr/>
          <p:nvPr/>
        </p:nvGrpSpPr>
        <p:grpSpPr>
          <a:xfrm rot="0">
            <a:off x="12613626" y="4536834"/>
            <a:ext cx="4806130" cy="2205717"/>
            <a:chOff x="0" y="0"/>
            <a:chExt cx="2115111" cy="970705"/>
          </a:xfrm>
        </p:grpSpPr>
        <p:sp>
          <p:nvSpPr>
            <p:cNvPr name="Freeform 18" id="18"/>
            <p:cNvSpPr/>
            <p:nvPr/>
          </p:nvSpPr>
          <p:spPr>
            <a:xfrm flipH="false" flipV="false" rot="0">
              <a:off x="0" y="0"/>
              <a:ext cx="2115111" cy="970705"/>
            </a:xfrm>
            <a:custGeom>
              <a:avLst/>
              <a:gdLst/>
              <a:ahLst/>
              <a:cxnLst/>
              <a:rect r="r" b="b" t="t" l="l"/>
              <a:pathLst>
                <a:path h="970705" w="2115111">
                  <a:moveTo>
                    <a:pt x="25773" y="0"/>
                  </a:moveTo>
                  <a:lnTo>
                    <a:pt x="2089337" y="0"/>
                  </a:lnTo>
                  <a:cubicBezTo>
                    <a:pt x="2096173" y="0"/>
                    <a:pt x="2102728" y="2715"/>
                    <a:pt x="2107562" y="7549"/>
                  </a:cubicBezTo>
                  <a:cubicBezTo>
                    <a:pt x="2112395" y="12382"/>
                    <a:pt x="2115111" y="18938"/>
                    <a:pt x="2115111" y="25773"/>
                  </a:cubicBezTo>
                  <a:lnTo>
                    <a:pt x="2115111" y="944932"/>
                  </a:lnTo>
                  <a:cubicBezTo>
                    <a:pt x="2115111" y="959166"/>
                    <a:pt x="2103571" y="970705"/>
                    <a:pt x="2089337" y="970705"/>
                  </a:cubicBezTo>
                  <a:lnTo>
                    <a:pt x="25773" y="970705"/>
                  </a:lnTo>
                  <a:cubicBezTo>
                    <a:pt x="11539" y="970705"/>
                    <a:pt x="0" y="959166"/>
                    <a:pt x="0" y="944932"/>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19" id="19"/>
            <p:cNvSpPr txBox="true"/>
            <p:nvPr/>
          </p:nvSpPr>
          <p:spPr>
            <a:xfrm>
              <a:off x="0" y="-47625"/>
              <a:ext cx="2115111" cy="1018330"/>
            </a:xfrm>
            <a:prstGeom prst="rect">
              <a:avLst/>
            </a:prstGeom>
          </p:spPr>
          <p:txBody>
            <a:bodyPr anchor="ctr" rtlCol="false" tIns="50800" lIns="50800" bIns="50800" rIns="50800"/>
            <a:lstStyle/>
            <a:p>
              <a:pPr algn="ctr">
                <a:lnSpc>
                  <a:spcPts val="3214"/>
                </a:lnSpc>
              </a:pPr>
            </a:p>
          </p:txBody>
        </p:sp>
      </p:grpSp>
      <p:grpSp>
        <p:nvGrpSpPr>
          <p:cNvPr name="Group 20" id="20"/>
          <p:cNvGrpSpPr/>
          <p:nvPr/>
        </p:nvGrpSpPr>
        <p:grpSpPr>
          <a:xfrm rot="0">
            <a:off x="12613626" y="8006276"/>
            <a:ext cx="4806130" cy="1882291"/>
            <a:chOff x="0" y="0"/>
            <a:chExt cx="2115111" cy="828370"/>
          </a:xfrm>
        </p:grpSpPr>
        <p:sp>
          <p:nvSpPr>
            <p:cNvPr name="Freeform 21" id="21"/>
            <p:cNvSpPr/>
            <p:nvPr/>
          </p:nvSpPr>
          <p:spPr>
            <a:xfrm flipH="false" flipV="false" rot="0">
              <a:off x="0" y="0"/>
              <a:ext cx="2115111" cy="828370"/>
            </a:xfrm>
            <a:custGeom>
              <a:avLst/>
              <a:gdLst/>
              <a:ahLst/>
              <a:cxnLst/>
              <a:rect r="r" b="b" t="t" l="l"/>
              <a:pathLst>
                <a:path h="828370" w="2115111">
                  <a:moveTo>
                    <a:pt x="25773" y="0"/>
                  </a:moveTo>
                  <a:lnTo>
                    <a:pt x="2089337" y="0"/>
                  </a:lnTo>
                  <a:cubicBezTo>
                    <a:pt x="2096173" y="0"/>
                    <a:pt x="2102728" y="2715"/>
                    <a:pt x="2107562" y="7549"/>
                  </a:cubicBezTo>
                  <a:cubicBezTo>
                    <a:pt x="2112395" y="12382"/>
                    <a:pt x="2115111" y="18938"/>
                    <a:pt x="2115111" y="25773"/>
                  </a:cubicBezTo>
                  <a:lnTo>
                    <a:pt x="2115111" y="802597"/>
                  </a:lnTo>
                  <a:cubicBezTo>
                    <a:pt x="2115111" y="816831"/>
                    <a:pt x="2103571" y="828370"/>
                    <a:pt x="2089337" y="828370"/>
                  </a:cubicBezTo>
                  <a:lnTo>
                    <a:pt x="25773" y="828370"/>
                  </a:lnTo>
                  <a:cubicBezTo>
                    <a:pt x="11539" y="828370"/>
                    <a:pt x="0" y="816831"/>
                    <a:pt x="0" y="802597"/>
                  </a:cubicBezTo>
                  <a:lnTo>
                    <a:pt x="0" y="25773"/>
                  </a:lnTo>
                  <a:cubicBezTo>
                    <a:pt x="0" y="11539"/>
                    <a:pt x="11539" y="0"/>
                    <a:pt x="25773" y="0"/>
                  </a:cubicBezTo>
                  <a:close/>
                </a:path>
              </a:pathLst>
            </a:custGeom>
            <a:solidFill>
              <a:srgbClr val="FFFFFF"/>
            </a:solidFill>
            <a:ln w="38100" cap="sq">
              <a:solidFill>
                <a:srgbClr val="074785"/>
              </a:solidFill>
              <a:prstDash val="solid"/>
              <a:miter/>
            </a:ln>
          </p:spPr>
        </p:sp>
        <p:sp>
          <p:nvSpPr>
            <p:cNvPr name="TextBox 22" id="22"/>
            <p:cNvSpPr txBox="true"/>
            <p:nvPr/>
          </p:nvSpPr>
          <p:spPr>
            <a:xfrm>
              <a:off x="0" y="-47625"/>
              <a:ext cx="2115111" cy="875995"/>
            </a:xfrm>
            <a:prstGeom prst="rect">
              <a:avLst/>
            </a:prstGeom>
          </p:spPr>
          <p:txBody>
            <a:bodyPr anchor="ctr" rtlCol="false" tIns="50800" lIns="50800" bIns="50800" rIns="50800"/>
            <a:lstStyle/>
            <a:p>
              <a:pPr algn="ctr">
                <a:lnSpc>
                  <a:spcPts val="3214"/>
                </a:lnSpc>
              </a:pPr>
            </a:p>
          </p:txBody>
        </p:sp>
      </p:grpSp>
      <p:sp>
        <p:nvSpPr>
          <p:cNvPr name="AutoShape 23" id="23"/>
          <p:cNvSpPr/>
          <p:nvPr/>
        </p:nvSpPr>
        <p:spPr>
          <a:xfrm>
            <a:off x="5674374" y="2611522"/>
            <a:ext cx="1496659" cy="3032480"/>
          </a:xfrm>
          <a:prstGeom prst="line">
            <a:avLst/>
          </a:prstGeom>
          <a:ln cap="rnd" w="57150">
            <a:solidFill>
              <a:srgbClr val="074785"/>
            </a:solidFill>
            <a:prstDash val="solid"/>
            <a:headEnd type="arrow" len="sm" w="med"/>
            <a:tailEnd type="none" len="sm" w="sm"/>
          </a:ln>
        </p:spPr>
      </p:sp>
      <p:sp>
        <p:nvSpPr>
          <p:cNvPr name="AutoShape 24" id="24"/>
          <p:cNvSpPr/>
          <p:nvPr/>
        </p:nvSpPr>
        <p:spPr>
          <a:xfrm flipV="true">
            <a:off x="5674374" y="5644002"/>
            <a:ext cx="1496659" cy="3310096"/>
          </a:xfrm>
          <a:prstGeom prst="line">
            <a:avLst/>
          </a:prstGeom>
          <a:ln cap="rnd" w="57150">
            <a:solidFill>
              <a:srgbClr val="074785"/>
            </a:solidFill>
            <a:prstDash val="solid"/>
            <a:headEnd type="arrow" len="sm" w="med"/>
            <a:tailEnd type="none" len="sm" w="sm"/>
          </a:ln>
        </p:spPr>
      </p:sp>
      <p:sp>
        <p:nvSpPr>
          <p:cNvPr name="AutoShape 25" id="25"/>
          <p:cNvSpPr/>
          <p:nvPr/>
        </p:nvSpPr>
        <p:spPr>
          <a:xfrm flipH="true">
            <a:off x="11437777" y="2403189"/>
            <a:ext cx="1175849" cy="3240813"/>
          </a:xfrm>
          <a:prstGeom prst="line">
            <a:avLst/>
          </a:prstGeom>
          <a:ln cap="rnd" w="57150">
            <a:solidFill>
              <a:srgbClr val="074785"/>
            </a:solidFill>
            <a:prstDash val="solid"/>
            <a:headEnd type="arrow" len="sm" w="med"/>
            <a:tailEnd type="none" len="sm" w="sm"/>
          </a:ln>
        </p:spPr>
      </p:sp>
      <p:sp>
        <p:nvSpPr>
          <p:cNvPr name="AutoShape 26" id="26"/>
          <p:cNvSpPr/>
          <p:nvPr/>
        </p:nvSpPr>
        <p:spPr>
          <a:xfrm flipH="true" flipV="true">
            <a:off x="11437777" y="5644002"/>
            <a:ext cx="1175849" cy="3303419"/>
          </a:xfrm>
          <a:prstGeom prst="line">
            <a:avLst/>
          </a:prstGeom>
          <a:ln cap="rnd" w="57150">
            <a:solidFill>
              <a:srgbClr val="074785"/>
            </a:solidFill>
            <a:prstDash val="solid"/>
            <a:headEnd type="arrow" len="sm" w="med"/>
            <a:tailEnd type="none" len="sm" w="sm"/>
          </a:ln>
        </p:spPr>
      </p:sp>
      <p:sp>
        <p:nvSpPr>
          <p:cNvPr name="AutoShape 27" id="27"/>
          <p:cNvSpPr/>
          <p:nvPr/>
        </p:nvSpPr>
        <p:spPr>
          <a:xfrm>
            <a:off x="5674374" y="5626428"/>
            <a:ext cx="1496659" cy="17574"/>
          </a:xfrm>
          <a:prstGeom prst="line">
            <a:avLst/>
          </a:prstGeom>
          <a:ln cap="rnd" w="57150">
            <a:solidFill>
              <a:srgbClr val="074785"/>
            </a:solidFill>
            <a:prstDash val="solid"/>
            <a:headEnd type="arrow" len="sm" w="med"/>
            <a:tailEnd type="none" len="sm" w="sm"/>
          </a:ln>
        </p:spPr>
      </p:sp>
      <p:sp>
        <p:nvSpPr>
          <p:cNvPr name="AutoShape 28" id="28"/>
          <p:cNvSpPr/>
          <p:nvPr/>
        </p:nvSpPr>
        <p:spPr>
          <a:xfrm flipH="true">
            <a:off x="11437777" y="5639693"/>
            <a:ext cx="1175849" cy="4309"/>
          </a:xfrm>
          <a:prstGeom prst="line">
            <a:avLst/>
          </a:prstGeom>
          <a:ln cap="rnd" w="57150">
            <a:solidFill>
              <a:srgbClr val="074785"/>
            </a:solidFill>
            <a:prstDash val="solid"/>
            <a:headEnd type="arrow" len="sm" w="med"/>
            <a:tailEnd type="none" len="sm" w="sm"/>
          </a:ln>
        </p:spPr>
      </p:sp>
      <p:sp>
        <p:nvSpPr>
          <p:cNvPr name="Freeform 29" id="29"/>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0" id="30"/>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1" id="31"/>
          <p:cNvGrpSpPr/>
          <p:nvPr/>
        </p:nvGrpSpPr>
        <p:grpSpPr>
          <a:xfrm rot="0">
            <a:off x="7025579" y="432299"/>
            <a:ext cx="4412198" cy="1050569"/>
            <a:chOff x="0" y="0"/>
            <a:chExt cx="1592914" cy="379282"/>
          </a:xfrm>
        </p:grpSpPr>
        <p:sp>
          <p:nvSpPr>
            <p:cNvPr name="Freeform 32" id="32"/>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33" id="33"/>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Freeform 34" id="34"/>
          <p:cNvSpPr/>
          <p:nvPr/>
        </p:nvSpPr>
        <p:spPr>
          <a:xfrm flipH="false" flipV="false" rot="0">
            <a:off x="7618709" y="4718564"/>
            <a:ext cx="3334763" cy="1875804"/>
          </a:xfrm>
          <a:custGeom>
            <a:avLst/>
            <a:gdLst/>
            <a:ahLst/>
            <a:cxnLst/>
            <a:rect r="r" b="b" t="t" l="l"/>
            <a:pathLst>
              <a:path h="1875804" w="3334763">
                <a:moveTo>
                  <a:pt x="0" y="0"/>
                </a:moveTo>
                <a:lnTo>
                  <a:pt x="3334763" y="0"/>
                </a:lnTo>
                <a:lnTo>
                  <a:pt x="3334763" y="1875804"/>
                </a:lnTo>
                <a:lnTo>
                  <a:pt x="0" y="1875804"/>
                </a:lnTo>
                <a:lnTo>
                  <a:pt x="0" y="0"/>
                </a:lnTo>
                <a:close/>
              </a:path>
            </a:pathLst>
          </a:custGeom>
          <a:blipFill>
            <a:blip r:embed="rId4"/>
            <a:stretch>
              <a:fillRect l="0" t="0" r="0" b="0"/>
            </a:stretch>
          </a:blipFill>
        </p:spPr>
      </p:sp>
      <p:sp>
        <p:nvSpPr>
          <p:cNvPr name="Freeform 35" id="35"/>
          <p:cNvSpPr/>
          <p:nvPr/>
        </p:nvSpPr>
        <p:spPr>
          <a:xfrm flipH="false" flipV="false" rot="0">
            <a:off x="2137647" y="1095892"/>
            <a:ext cx="2267325" cy="773951"/>
          </a:xfrm>
          <a:custGeom>
            <a:avLst/>
            <a:gdLst/>
            <a:ahLst/>
            <a:cxnLst/>
            <a:rect r="r" b="b" t="t" l="l"/>
            <a:pathLst>
              <a:path h="773951" w="2267325">
                <a:moveTo>
                  <a:pt x="0" y="0"/>
                </a:moveTo>
                <a:lnTo>
                  <a:pt x="2267325" y="0"/>
                </a:lnTo>
                <a:lnTo>
                  <a:pt x="2267325" y="773951"/>
                </a:lnTo>
                <a:lnTo>
                  <a:pt x="0" y="773951"/>
                </a:lnTo>
                <a:lnTo>
                  <a:pt x="0" y="0"/>
                </a:lnTo>
                <a:close/>
              </a:path>
            </a:pathLst>
          </a:custGeom>
          <a:blipFill>
            <a:blip r:embed="rId5"/>
            <a:stretch>
              <a:fillRect l="-2629" t="0" r="-12638" b="0"/>
            </a:stretch>
          </a:blipFill>
        </p:spPr>
      </p:sp>
      <p:sp>
        <p:nvSpPr>
          <p:cNvPr name="Freeform 36" id="36"/>
          <p:cNvSpPr/>
          <p:nvPr/>
        </p:nvSpPr>
        <p:spPr>
          <a:xfrm flipH="false" flipV="false" rot="0">
            <a:off x="13936212" y="753783"/>
            <a:ext cx="1962500" cy="1104264"/>
          </a:xfrm>
          <a:custGeom>
            <a:avLst/>
            <a:gdLst/>
            <a:ahLst/>
            <a:cxnLst/>
            <a:rect r="r" b="b" t="t" l="l"/>
            <a:pathLst>
              <a:path h="1104264" w="1962500">
                <a:moveTo>
                  <a:pt x="0" y="0"/>
                </a:moveTo>
                <a:lnTo>
                  <a:pt x="1962500" y="0"/>
                </a:lnTo>
                <a:lnTo>
                  <a:pt x="1962500" y="1104264"/>
                </a:lnTo>
                <a:lnTo>
                  <a:pt x="0" y="1104264"/>
                </a:lnTo>
                <a:lnTo>
                  <a:pt x="0" y="0"/>
                </a:lnTo>
                <a:close/>
              </a:path>
            </a:pathLst>
          </a:custGeom>
          <a:blipFill>
            <a:blip r:embed="rId6"/>
            <a:stretch>
              <a:fillRect l="0" t="0" r="0" b="0"/>
            </a:stretch>
          </a:blipFill>
        </p:spPr>
      </p:sp>
      <p:sp>
        <p:nvSpPr>
          <p:cNvPr name="Freeform 37" id="37"/>
          <p:cNvSpPr/>
          <p:nvPr/>
        </p:nvSpPr>
        <p:spPr>
          <a:xfrm flipH="true" flipV="false" rot="0">
            <a:off x="6885107" y="2772861"/>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8" id="38"/>
          <p:cNvSpPr/>
          <p:nvPr/>
        </p:nvSpPr>
        <p:spPr>
          <a:xfrm flipH="false" flipV="false" rot="0">
            <a:off x="10376122" y="9021881"/>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9" id="39"/>
          <p:cNvSpPr/>
          <p:nvPr/>
        </p:nvSpPr>
        <p:spPr>
          <a:xfrm flipH="true" flipV="false" rot="0">
            <a:off x="16880826" y="6796811"/>
            <a:ext cx="1341101" cy="866686"/>
          </a:xfrm>
          <a:custGeom>
            <a:avLst/>
            <a:gdLst/>
            <a:ahLst/>
            <a:cxnLst/>
            <a:rect r="r" b="b" t="t" l="l"/>
            <a:pathLst>
              <a:path h="866686" w="1341101">
                <a:moveTo>
                  <a:pt x="1341100" y="0"/>
                </a:moveTo>
                <a:lnTo>
                  <a:pt x="0" y="0"/>
                </a:lnTo>
                <a:lnTo>
                  <a:pt x="0" y="866687"/>
                </a:lnTo>
                <a:lnTo>
                  <a:pt x="1341100" y="866687"/>
                </a:lnTo>
                <a:lnTo>
                  <a:pt x="134110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0" id="40"/>
          <p:cNvSpPr/>
          <p:nvPr/>
        </p:nvSpPr>
        <p:spPr>
          <a:xfrm flipH="true" flipV="false" rot="0">
            <a:off x="4534533" y="7139590"/>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1" id="41"/>
          <p:cNvSpPr/>
          <p:nvPr/>
        </p:nvSpPr>
        <p:spPr>
          <a:xfrm flipH="false" flipV="false" rot="0">
            <a:off x="2265507" y="3972736"/>
            <a:ext cx="1837482" cy="1520219"/>
          </a:xfrm>
          <a:custGeom>
            <a:avLst/>
            <a:gdLst/>
            <a:ahLst/>
            <a:cxnLst/>
            <a:rect r="r" b="b" t="t" l="l"/>
            <a:pathLst>
              <a:path h="1520219" w="1837482">
                <a:moveTo>
                  <a:pt x="0" y="0"/>
                </a:moveTo>
                <a:lnTo>
                  <a:pt x="1837482" y="0"/>
                </a:lnTo>
                <a:lnTo>
                  <a:pt x="1837482" y="1520219"/>
                </a:lnTo>
                <a:lnTo>
                  <a:pt x="0" y="1520219"/>
                </a:lnTo>
                <a:lnTo>
                  <a:pt x="0" y="0"/>
                </a:lnTo>
                <a:close/>
              </a:path>
            </a:pathLst>
          </a:custGeom>
          <a:blipFill>
            <a:blip r:embed="rId7"/>
            <a:stretch>
              <a:fillRect l="0" t="0" r="0" b="0"/>
            </a:stretch>
          </a:blipFill>
        </p:spPr>
      </p:sp>
      <p:sp>
        <p:nvSpPr>
          <p:cNvPr name="Freeform 42" id="42"/>
          <p:cNvSpPr/>
          <p:nvPr/>
        </p:nvSpPr>
        <p:spPr>
          <a:xfrm flipH="false" flipV="false" rot="0">
            <a:off x="13839546" y="3856082"/>
            <a:ext cx="2354290" cy="1503953"/>
          </a:xfrm>
          <a:custGeom>
            <a:avLst/>
            <a:gdLst/>
            <a:ahLst/>
            <a:cxnLst/>
            <a:rect r="r" b="b" t="t" l="l"/>
            <a:pathLst>
              <a:path h="1503953" w="2354290">
                <a:moveTo>
                  <a:pt x="0" y="0"/>
                </a:moveTo>
                <a:lnTo>
                  <a:pt x="2354289" y="0"/>
                </a:lnTo>
                <a:lnTo>
                  <a:pt x="2354289" y="1503954"/>
                </a:lnTo>
                <a:lnTo>
                  <a:pt x="0" y="1503954"/>
                </a:lnTo>
                <a:lnTo>
                  <a:pt x="0" y="0"/>
                </a:lnTo>
                <a:close/>
              </a:path>
            </a:pathLst>
          </a:custGeom>
          <a:blipFill>
            <a:blip r:embed="rId8"/>
            <a:stretch>
              <a:fillRect l="0" t="0" r="0" b="0"/>
            </a:stretch>
          </a:blipFill>
        </p:spPr>
      </p:sp>
      <p:sp>
        <p:nvSpPr>
          <p:cNvPr name="Freeform 43" id="43"/>
          <p:cNvSpPr/>
          <p:nvPr/>
        </p:nvSpPr>
        <p:spPr>
          <a:xfrm flipH="false" flipV="false" rot="0">
            <a:off x="2041781" y="7143305"/>
            <a:ext cx="2284933" cy="1268138"/>
          </a:xfrm>
          <a:custGeom>
            <a:avLst/>
            <a:gdLst/>
            <a:ahLst/>
            <a:cxnLst/>
            <a:rect r="r" b="b" t="t" l="l"/>
            <a:pathLst>
              <a:path h="1268138" w="2284933">
                <a:moveTo>
                  <a:pt x="0" y="0"/>
                </a:moveTo>
                <a:lnTo>
                  <a:pt x="2284933" y="0"/>
                </a:lnTo>
                <a:lnTo>
                  <a:pt x="2284933" y="1268138"/>
                </a:lnTo>
                <a:lnTo>
                  <a:pt x="0" y="1268138"/>
                </a:lnTo>
                <a:lnTo>
                  <a:pt x="0" y="0"/>
                </a:lnTo>
                <a:close/>
              </a:path>
            </a:pathLst>
          </a:custGeom>
          <a:blipFill>
            <a:blip r:embed="rId9"/>
            <a:stretch>
              <a:fillRect l="0" t="0" r="0" b="0"/>
            </a:stretch>
          </a:blipFill>
        </p:spPr>
      </p:sp>
      <p:sp>
        <p:nvSpPr>
          <p:cNvPr name="Freeform 44" id="44"/>
          <p:cNvSpPr/>
          <p:nvPr/>
        </p:nvSpPr>
        <p:spPr>
          <a:xfrm flipH="false" flipV="false" rot="0">
            <a:off x="13905732" y="7254299"/>
            <a:ext cx="2349152" cy="1503953"/>
          </a:xfrm>
          <a:custGeom>
            <a:avLst/>
            <a:gdLst/>
            <a:ahLst/>
            <a:cxnLst/>
            <a:rect r="r" b="b" t="t" l="l"/>
            <a:pathLst>
              <a:path h="1503953" w="2349152">
                <a:moveTo>
                  <a:pt x="0" y="0"/>
                </a:moveTo>
                <a:lnTo>
                  <a:pt x="2349152" y="0"/>
                </a:lnTo>
                <a:lnTo>
                  <a:pt x="2349152" y="1503953"/>
                </a:lnTo>
                <a:lnTo>
                  <a:pt x="0" y="1503953"/>
                </a:lnTo>
                <a:lnTo>
                  <a:pt x="0" y="0"/>
                </a:lnTo>
                <a:close/>
              </a:path>
            </a:pathLst>
          </a:custGeom>
          <a:blipFill>
            <a:blip r:embed="rId10"/>
            <a:stretch>
              <a:fillRect l="-1216" t="0" r="-1216" b="0"/>
            </a:stretch>
          </a:blipFill>
        </p:spPr>
      </p:sp>
      <p:sp>
        <p:nvSpPr>
          <p:cNvPr name="TextBox 45" id="45"/>
          <p:cNvSpPr txBox="true"/>
          <p:nvPr/>
        </p:nvSpPr>
        <p:spPr>
          <a:xfrm rot="0">
            <a:off x="12956704" y="1957521"/>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Modelo de inferencia local para traducción: Llama3</a:t>
            </a:r>
          </a:p>
        </p:txBody>
      </p:sp>
      <p:sp>
        <p:nvSpPr>
          <p:cNvPr name="TextBox 46" id="46"/>
          <p:cNvSpPr txBox="true"/>
          <p:nvPr/>
        </p:nvSpPr>
        <p:spPr>
          <a:xfrm rot="0">
            <a:off x="7562138" y="649008"/>
            <a:ext cx="3484534"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Stack Tecnológico</a:t>
            </a:r>
          </a:p>
        </p:txBody>
      </p:sp>
      <p:sp>
        <p:nvSpPr>
          <p:cNvPr name="TextBox 47" id="47"/>
          <p:cNvSpPr txBox="true"/>
          <p:nvPr/>
        </p:nvSpPr>
        <p:spPr>
          <a:xfrm rot="0">
            <a:off x="1147706" y="2227044"/>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Framework para captura de pantalla: DxCam</a:t>
            </a:r>
          </a:p>
        </p:txBody>
      </p:sp>
      <p:sp>
        <p:nvSpPr>
          <p:cNvPr name="TextBox 48" id="48"/>
          <p:cNvSpPr txBox="true"/>
          <p:nvPr/>
        </p:nvSpPr>
        <p:spPr>
          <a:xfrm rot="0">
            <a:off x="1147706" y="5588328"/>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Reconocimiento óptico de caracteres: EasyOCR</a:t>
            </a:r>
          </a:p>
        </p:txBody>
      </p:sp>
      <p:sp>
        <p:nvSpPr>
          <p:cNvPr name="TextBox 49" id="49"/>
          <p:cNvSpPr txBox="true"/>
          <p:nvPr/>
        </p:nvSpPr>
        <p:spPr>
          <a:xfrm rot="0">
            <a:off x="12956704" y="5530409"/>
            <a:ext cx="4247207" cy="8153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Módulo de traducción:</a:t>
            </a:r>
          </a:p>
          <a:p>
            <a:pPr algn="l">
              <a:lnSpc>
                <a:spcPts val="3359"/>
              </a:lnSpc>
            </a:pPr>
            <a:r>
              <a:rPr lang="en-US" sz="2400" spc="115">
                <a:solidFill>
                  <a:srgbClr val="074785"/>
                </a:solidFill>
                <a:latin typeface="Open Sans"/>
                <a:ea typeface="Open Sans"/>
                <a:cs typeface="Open Sans"/>
                <a:sym typeface="Open Sans"/>
              </a:rPr>
              <a:t>MarianMT</a:t>
            </a:r>
          </a:p>
        </p:txBody>
      </p:sp>
      <p:sp>
        <p:nvSpPr>
          <p:cNvPr name="TextBox 50" id="50"/>
          <p:cNvSpPr txBox="true"/>
          <p:nvPr/>
        </p:nvSpPr>
        <p:spPr>
          <a:xfrm rot="0">
            <a:off x="1147706" y="8849434"/>
            <a:ext cx="4247207" cy="3962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Módulo de voz: pyttsx3</a:t>
            </a:r>
          </a:p>
        </p:txBody>
      </p:sp>
      <p:sp>
        <p:nvSpPr>
          <p:cNvPr name="TextBox 51" id="51"/>
          <p:cNvSpPr txBox="true"/>
          <p:nvPr/>
        </p:nvSpPr>
        <p:spPr>
          <a:xfrm rot="0">
            <a:off x="12956704" y="9063052"/>
            <a:ext cx="4247207" cy="396240"/>
          </a:xfrm>
          <a:prstGeom prst="rect">
            <a:avLst/>
          </a:prstGeom>
        </p:spPr>
        <p:txBody>
          <a:bodyPr anchor="t" rtlCol="false" tIns="0" lIns="0" bIns="0" rIns="0">
            <a:spAutoFit/>
          </a:bodyPr>
          <a:lstStyle/>
          <a:p>
            <a:pPr algn="l">
              <a:lnSpc>
                <a:spcPts val="3359"/>
              </a:lnSpc>
            </a:pPr>
            <a:r>
              <a:rPr lang="en-US" sz="2400" spc="115">
                <a:solidFill>
                  <a:srgbClr val="074785"/>
                </a:solidFill>
                <a:latin typeface="Open Sans"/>
                <a:ea typeface="Open Sans"/>
                <a:cs typeface="Open Sans"/>
                <a:sym typeface="Open Sans"/>
              </a:rPr>
              <a:t>Interfaz: PyQT</a:t>
            </a:r>
          </a:p>
        </p:txBody>
      </p:sp>
      <p:sp>
        <p:nvSpPr>
          <p:cNvPr name="Freeform 52" id="52"/>
          <p:cNvSpPr/>
          <p:nvPr/>
        </p:nvSpPr>
        <p:spPr>
          <a:xfrm flipH="false" flipV="false" rot="0">
            <a:off x="7447259" y="8411443"/>
            <a:ext cx="1151602" cy="1125211"/>
          </a:xfrm>
          <a:custGeom>
            <a:avLst/>
            <a:gdLst/>
            <a:ahLst/>
            <a:cxnLst/>
            <a:rect r="r" b="b" t="t" l="l"/>
            <a:pathLst>
              <a:path h="1125211" w="1151602">
                <a:moveTo>
                  <a:pt x="0" y="0"/>
                </a:moveTo>
                <a:lnTo>
                  <a:pt x="1151601" y="0"/>
                </a:lnTo>
                <a:lnTo>
                  <a:pt x="1151601" y="1125211"/>
                </a:lnTo>
                <a:lnTo>
                  <a:pt x="0" y="11252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1489048" y="1274689"/>
            <a:ext cx="11970125" cy="8065608"/>
            <a:chOff x="0" y="0"/>
            <a:chExt cx="3152626" cy="2124275"/>
          </a:xfrm>
        </p:grpSpPr>
        <p:sp>
          <p:nvSpPr>
            <p:cNvPr name="Freeform 3" id="3"/>
            <p:cNvSpPr/>
            <p:nvPr/>
          </p:nvSpPr>
          <p:spPr>
            <a:xfrm flipH="false" flipV="false" rot="0">
              <a:off x="0" y="0"/>
              <a:ext cx="3152626" cy="2124275"/>
            </a:xfrm>
            <a:custGeom>
              <a:avLst/>
              <a:gdLst/>
              <a:ahLst/>
              <a:cxnLst/>
              <a:rect r="r" b="b" t="t" l="l"/>
              <a:pathLst>
                <a:path h="2124275" w="3152626">
                  <a:moveTo>
                    <a:pt x="14229" y="0"/>
                  </a:moveTo>
                  <a:lnTo>
                    <a:pt x="3138397" y="0"/>
                  </a:lnTo>
                  <a:cubicBezTo>
                    <a:pt x="3146255" y="0"/>
                    <a:pt x="3152626" y="6371"/>
                    <a:pt x="3152626" y="14229"/>
                  </a:cubicBezTo>
                  <a:lnTo>
                    <a:pt x="3152626" y="2110046"/>
                  </a:lnTo>
                  <a:cubicBezTo>
                    <a:pt x="3152626" y="2117905"/>
                    <a:pt x="3146255" y="2124275"/>
                    <a:pt x="3138397" y="2124275"/>
                  </a:cubicBezTo>
                  <a:lnTo>
                    <a:pt x="14229" y="2124275"/>
                  </a:lnTo>
                  <a:cubicBezTo>
                    <a:pt x="6371" y="2124275"/>
                    <a:pt x="0" y="2117905"/>
                    <a:pt x="0" y="2110046"/>
                  </a:cubicBezTo>
                  <a:lnTo>
                    <a:pt x="0" y="14229"/>
                  </a:lnTo>
                  <a:cubicBezTo>
                    <a:pt x="0" y="6371"/>
                    <a:pt x="6371" y="0"/>
                    <a:pt x="14229"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3152626" cy="2171900"/>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2003248" y="1762101"/>
            <a:ext cx="9970066" cy="980906"/>
          </a:xfrm>
          <a:prstGeom prst="rect">
            <a:avLst/>
          </a:prstGeom>
        </p:spPr>
        <p:txBody>
          <a:bodyPr anchor="t" rtlCol="false" tIns="0" lIns="0" bIns="0" rIns="0">
            <a:spAutoFit/>
          </a:bodyPr>
          <a:lstStyle/>
          <a:p>
            <a:pPr algn="l" marL="0" indent="0" lvl="0">
              <a:lnSpc>
                <a:spcPts val="7405"/>
              </a:lnSpc>
              <a:spcBef>
                <a:spcPct val="0"/>
              </a:spcBef>
            </a:pPr>
            <a:r>
              <a:rPr lang="en-US" sz="6793" spc="67">
                <a:solidFill>
                  <a:srgbClr val="074785"/>
                </a:solidFill>
                <a:latin typeface="Sugo Display"/>
                <a:ea typeface="Sugo Display"/>
                <a:cs typeface="Sugo Display"/>
                <a:sym typeface="Sugo Display"/>
              </a:rPr>
              <a:t>Justificación de una Base de Datos</a:t>
            </a:r>
          </a:p>
        </p:txBody>
      </p:sp>
      <p:grpSp>
        <p:nvGrpSpPr>
          <p:cNvPr name="Group 6" id="6"/>
          <p:cNvGrpSpPr/>
          <p:nvPr/>
        </p:nvGrpSpPr>
        <p:grpSpPr>
          <a:xfrm rot="0">
            <a:off x="12742447" y="3404037"/>
            <a:ext cx="4179857" cy="4266901"/>
            <a:chOff x="0" y="0"/>
            <a:chExt cx="6220460" cy="6350000"/>
          </a:xfrm>
        </p:grpSpPr>
        <p:sp>
          <p:nvSpPr>
            <p:cNvPr name="Freeform 7" id="7"/>
            <p:cNvSpPr/>
            <p:nvPr/>
          </p:nvSpPr>
          <p:spPr>
            <a:xfrm flipH="false" flipV="false" rot="0">
              <a:off x="0" y="0"/>
              <a:ext cx="6220460" cy="6350000"/>
            </a:xfrm>
            <a:custGeom>
              <a:avLst/>
              <a:gdLst/>
              <a:ahLst/>
              <a:cxnLst/>
              <a:rect r="r" b="b" t="t" l="l"/>
              <a:pathLst>
                <a:path h="6350000" w="6220460">
                  <a:moveTo>
                    <a:pt x="6090920" y="2592070"/>
                  </a:moveTo>
                  <a:lnTo>
                    <a:pt x="6090920" y="2203450"/>
                  </a:lnTo>
                  <a:lnTo>
                    <a:pt x="5961380" y="2203450"/>
                  </a:lnTo>
                  <a:lnTo>
                    <a:pt x="5961380" y="1944370"/>
                  </a:lnTo>
                  <a:lnTo>
                    <a:pt x="5831840" y="1944370"/>
                  </a:lnTo>
                  <a:lnTo>
                    <a:pt x="5831840" y="1685290"/>
                  </a:lnTo>
                  <a:lnTo>
                    <a:pt x="5702300" y="1685290"/>
                  </a:lnTo>
                  <a:lnTo>
                    <a:pt x="5702300" y="1424940"/>
                  </a:lnTo>
                  <a:lnTo>
                    <a:pt x="5572760" y="1424940"/>
                  </a:lnTo>
                  <a:lnTo>
                    <a:pt x="5572760" y="1295400"/>
                  </a:lnTo>
                  <a:lnTo>
                    <a:pt x="5443220" y="1295400"/>
                  </a:lnTo>
                  <a:lnTo>
                    <a:pt x="5443220" y="1165860"/>
                  </a:lnTo>
                  <a:lnTo>
                    <a:pt x="5313680" y="1165860"/>
                  </a:lnTo>
                  <a:lnTo>
                    <a:pt x="5313680" y="1036320"/>
                  </a:lnTo>
                  <a:lnTo>
                    <a:pt x="5184140" y="1036320"/>
                  </a:lnTo>
                  <a:lnTo>
                    <a:pt x="5184140" y="906780"/>
                  </a:lnTo>
                  <a:lnTo>
                    <a:pt x="5054600" y="906780"/>
                  </a:lnTo>
                  <a:lnTo>
                    <a:pt x="5054600" y="777240"/>
                  </a:lnTo>
                  <a:lnTo>
                    <a:pt x="4925060" y="777240"/>
                  </a:lnTo>
                  <a:lnTo>
                    <a:pt x="4925060" y="647700"/>
                  </a:lnTo>
                  <a:lnTo>
                    <a:pt x="4795520" y="647700"/>
                  </a:lnTo>
                  <a:lnTo>
                    <a:pt x="4795520" y="518160"/>
                  </a:lnTo>
                  <a:lnTo>
                    <a:pt x="4535170" y="518160"/>
                  </a:lnTo>
                  <a:lnTo>
                    <a:pt x="4535170" y="388620"/>
                  </a:lnTo>
                  <a:lnTo>
                    <a:pt x="4276090" y="388620"/>
                  </a:lnTo>
                  <a:lnTo>
                    <a:pt x="4276090" y="259080"/>
                  </a:lnTo>
                  <a:lnTo>
                    <a:pt x="4017010" y="259080"/>
                  </a:lnTo>
                  <a:lnTo>
                    <a:pt x="4017010" y="129540"/>
                  </a:lnTo>
                  <a:lnTo>
                    <a:pt x="3628390" y="129540"/>
                  </a:lnTo>
                  <a:lnTo>
                    <a:pt x="3628390" y="0"/>
                  </a:lnTo>
                  <a:lnTo>
                    <a:pt x="2592070" y="0"/>
                  </a:lnTo>
                  <a:lnTo>
                    <a:pt x="2592070" y="129540"/>
                  </a:lnTo>
                  <a:lnTo>
                    <a:pt x="2203450" y="129540"/>
                  </a:lnTo>
                  <a:lnTo>
                    <a:pt x="2203450" y="259080"/>
                  </a:lnTo>
                  <a:lnTo>
                    <a:pt x="1944370" y="259080"/>
                  </a:lnTo>
                  <a:lnTo>
                    <a:pt x="1944370" y="388620"/>
                  </a:lnTo>
                  <a:lnTo>
                    <a:pt x="1685290" y="388620"/>
                  </a:lnTo>
                  <a:lnTo>
                    <a:pt x="1685290" y="518160"/>
                  </a:lnTo>
                  <a:lnTo>
                    <a:pt x="1424940" y="518160"/>
                  </a:lnTo>
                  <a:lnTo>
                    <a:pt x="1424940" y="647700"/>
                  </a:lnTo>
                  <a:lnTo>
                    <a:pt x="1295400" y="647700"/>
                  </a:lnTo>
                  <a:lnTo>
                    <a:pt x="1295400" y="777240"/>
                  </a:lnTo>
                  <a:lnTo>
                    <a:pt x="1165860" y="777240"/>
                  </a:lnTo>
                  <a:lnTo>
                    <a:pt x="1165860" y="906780"/>
                  </a:lnTo>
                  <a:lnTo>
                    <a:pt x="1036320" y="906780"/>
                  </a:lnTo>
                  <a:lnTo>
                    <a:pt x="1036320" y="1036320"/>
                  </a:lnTo>
                  <a:lnTo>
                    <a:pt x="906780" y="1036320"/>
                  </a:lnTo>
                  <a:lnTo>
                    <a:pt x="906780" y="1165860"/>
                  </a:lnTo>
                  <a:lnTo>
                    <a:pt x="777240" y="1165860"/>
                  </a:lnTo>
                  <a:lnTo>
                    <a:pt x="777240" y="1295400"/>
                  </a:lnTo>
                  <a:lnTo>
                    <a:pt x="647700" y="1295400"/>
                  </a:lnTo>
                  <a:lnTo>
                    <a:pt x="647700" y="1424940"/>
                  </a:lnTo>
                  <a:lnTo>
                    <a:pt x="518160" y="1424940"/>
                  </a:lnTo>
                  <a:lnTo>
                    <a:pt x="518160" y="1685290"/>
                  </a:lnTo>
                  <a:lnTo>
                    <a:pt x="388620" y="1685290"/>
                  </a:lnTo>
                  <a:lnTo>
                    <a:pt x="388620" y="1944370"/>
                  </a:lnTo>
                  <a:lnTo>
                    <a:pt x="259080" y="1944370"/>
                  </a:lnTo>
                  <a:lnTo>
                    <a:pt x="259080" y="2203450"/>
                  </a:lnTo>
                  <a:lnTo>
                    <a:pt x="129540" y="2203450"/>
                  </a:lnTo>
                  <a:lnTo>
                    <a:pt x="129540" y="2592070"/>
                  </a:lnTo>
                  <a:lnTo>
                    <a:pt x="0" y="2592070"/>
                  </a:lnTo>
                  <a:lnTo>
                    <a:pt x="0" y="3757930"/>
                  </a:lnTo>
                  <a:lnTo>
                    <a:pt x="129540" y="3757930"/>
                  </a:lnTo>
                  <a:lnTo>
                    <a:pt x="129540" y="4146550"/>
                  </a:lnTo>
                  <a:lnTo>
                    <a:pt x="259080" y="4146550"/>
                  </a:lnTo>
                  <a:lnTo>
                    <a:pt x="259080" y="4405630"/>
                  </a:lnTo>
                  <a:lnTo>
                    <a:pt x="388620" y="4405630"/>
                  </a:lnTo>
                  <a:lnTo>
                    <a:pt x="388620" y="4664710"/>
                  </a:lnTo>
                  <a:lnTo>
                    <a:pt x="518160" y="4664710"/>
                  </a:lnTo>
                  <a:lnTo>
                    <a:pt x="518160" y="4925060"/>
                  </a:lnTo>
                  <a:lnTo>
                    <a:pt x="647700" y="4925060"/>
                  </a:lnTo>
                  <a:lnTo>
                    <a:pt x="647700" y="5054600"/>
                  </a:lnTo>
                  <a:lnTo>
                    <a:pt x="777240" y="5054600"/>
                  </a:lnTo>
                  <a:lnTo>
                    <a:pt x="777240" y="5184140"/>
                  </a:lnTo>
                  <a:lnTo>
                    <a:pt x="906780" y="5184140"/>
                  </a:lnTo>
                  <a:lnTo>
                    <a:pt x="906780" y="5313680"/>
                  </a:lnTo>
                  <a:lnTo>
                    <a:pt x="1036320" y="5313680"/>
                  </a:lnTo>
                  <a:lnTo>
                    <a:pt x="1036320" y="5443220"/>
                  </a:lnTo>
                  <a:lnTo>
                    <a:pt x="1165860" y="5443220"/>
                  </a:lnTo>
                  <a:lnTo>
                    <a:pt x="1165860" y="5572760"/>
                  </a:lnTo>
                  <a:lnTo>
                    <a:pt x="1295400" y="5572760"/>
                  </a:lnTo>
                  <a:lnTo>
                    <a:pt x="1295400" y="5702300"/>
                  </a:lnTo>
                  <a:lnTo>
                    <a:pt x="1424940" y="5702300"/>
                  </a:lnTo>
                  <a:lnTo>
                    <a:pt x="1424940" y="5831840"/>
                  </a:lnTo>
                  <a:lnTo>
                    <a:pt x="1685290" y="5831840"/>
                  </a:lnTo>
                  <a:lnTo>
                    <a:pt x="1685290" y="5961380"/>
                  </a:lnTo>
                  <a:lnTo>
                    <a:pt x="1944370" y="5961380"/>
                  </a:lnTo>
                  <a:lnTo>
                    <a:pt x="1944370" y="6090920"/>
                  </a:lnTo>
                  <a:lnTo>
                    <a:pt x="2203450" y="6090920"/>
                  </a:lnTo>
                  <a:lnTo>
                    <a:pt x="2203450" y="6220460"/>
                  </a:lnTo>
                  <a:lnTo>
                    <a:pt x="2592070" y="6220460"/>
                  </a:lnTo>
                  <a:lnTo>
                    <a:pt x="2592070" y="6350000"/>
                  </a:lnTo>
                  <a:lnTo>
                    <a:pt x="3628390" y="6350000"/>
                  </a:lnTo>
                  <a:lnTo>
                    <a:pt x="3628390" y="6220460"/>
                  </a:lnTo>
                  <a:lnTo>
                    <a:pt x="4017010" y="6220460"/>
                  </a:lnTo>
                  <a:lnTo>
                    <a:pt x="4017010" y="6090920"/>
                  </a:lnTo>
                  <a:lnTo>
                    <a:pt x="4276090" y="6090920"/>
                  </a:lnTo>
                  <a:lnTo>
                    <a:pt x="4276090" y="5961380"/>
                  </a:lnTo>
                  <a:lnTo>
                    <a:pt x="4535170" y="5961380"/>
                  </a:lnTo>
                  <a:lnTo>
                    <a:pt x="4535170" y="5831840"/>
                  </a:lnTo>
                  <a:lnTo>
                    <a:pt x="4795520" y="5831840"/>
                  </a:lnTo>
                  <a:lnTo>
                    <a:pt x="4795520" y="5702300"/>
                  </a:lnTo>
                  <a:lnTo>
                    <a:pt x="4925060" y="5702300"/>
                  </a:lnTo>
                  <a:lnTo>
                    <a:pt x="4925060" y="5572760"/>
                  </a:lnTo>
                  <a:lnTo>
                    <a:pt x="5054600" y="5572760"/>
                  </a:lnTo>
                  <a:lnTo>
                    <a:pt x="5054600" y="5443220"/>
                  </a:lnTo>
                  <a:lnTo>
                    <a:pt x="5184140" y="5443220"/>
                  </a:lnTo>
                  <a:lnTo>
                    <a:pt x="5184140" y="5313680"/>
                  </a:lnTo>
                  <a:lnTo>
                    <a:pt x="5313680" y="5313680"/>
                  </a:lnTo>
                  <a:lnTo>
                    <a:pt x="5313680" y="5184140"/>
                  </a:lnTo>
                  <a:lnTo>
                    <a:pt x="5443220" y="5184140"/>
                  </a:lnTo>
                  <a:lnTo>
                    <a:pt x="5443220" y="5054600"/>
                  </a:lnTo>
                  <a:lnTo>
                    <a:pt x="5572760" y="5054600"/>
                  </a:lnTo>
                  <a:lnTo>
                    <a:pt x="5572760" y="4925060"/>
                  </a:lnTo>
                  <a:lnTo>
                    <a:pt x="5702300" y="4925060"/>
                  </a:lnTo>
                  <a:lnTo>
                    <a:pt x="5702300" y="4664710"/>
                  </a:lnTo>
                  <a:lnTo>
                    <a:pt x="5831840" y="4664710"/>
                  </a:lnTo>
                  <a:lnTo>
                    <a:pt x="5831840" y="4405630"/>
                  </a:lnTo>
                  <a:lnTo>
                    <a:pt x="5961380" y="4405630"/>
                  </a:lnTo>
                  <a:lnTo>
                    <a:pt x="5961380" y="4146550"/>
                  </a:lnTo>
                  <a:lnTo>
                    <a:pt x="6090920" y="4146550"/>
                  </a:lnTo>
                  <a:lnTo>
                    <a:pt x="6090920" y="3757930"/>
                  </a:lnTo>
                  <a:lnTo>
                    <a:pt x="6220460" y="3757930"/>
                  </a:lnTo>
                  <a:lnTo>
                    <a:pt x="6220460" y="2592070"/>
                  </a:lnTo>
                  <a:close/>
                </a:path>
              </a:pathLst>
            </a:custGeom>
            <a:blipFill>
              <a:blip r:embed="rId2"/>
              <a:stretch>
                <a:fillRect l="-35068" t="0" r="-35068" b="0"/>
              </a:stretch>
            </a:blipFill>
            <a:ln w="104775" cap="sq">
              <a:solidFill>
                <a:srgbClr val="074785"/>
              </a:solidFill>
              <a:prstDash val="solid"/>
              <a:miter/>
            </a:ln>
          </p:spPr>
        </p:sp>
      </p:grpSp>
      <p:sp>
        <p:nvSpPr>
          <p:cNvPr name="TextBox 8" id="8"/>
          <p:cNvSpPr txBox="true"/>
          <p:nvPr/>
        </p:nvSpPr>
        <p:spPr>
          <a:xfrm rot="0">
            <a:off x="2003248" y="3043288"/>
            <a:ext cx="10953281" cy="5980516"/>
          </a:xfrm>
          <a:prstGeom prst="rect">
            <a:avLst/>
          </a:prstGeom>
        </p:spPr>
        <p:txBody>
          <a:bodyPr anchor="t" rtlCol="false" tIns="0" lIns="0" bIns="0" rIns="0">
            <a:spAutoFit/>
          </a:bodyPr>
          <a:lstStyle/>
          <a:p>
            <a:pPr algn="l">
              <a:lnSpc>
                <a:spcPts val="4006"/>
              </a:lnSpc>
            </a:pPr>
            <a:r>
              <a:rPr lang="en-US" sz="2472" spc="118">
                <a:solidFill>
                  <a:srgbClr val="074785"/>
                </a:solidFill>
                <a:latin typeface="Open Sans"/>
                <a:ea typeface="Open Sans"/>
                <a:cs typeface="Open Sans"/>
                <a:sym typeface="Open Sans"/>
              </a:rPr>
              <a:t>Un traductor en tiempo real es, por definición, un sistema de procesamiento de flujo (Stream Processing), no un sistema de almacenamiento y recuperación (ni CRUD).</a:t>
            </a:r>
          </a:p>
          <a:p>
            <a:pPr algn="l">
              <a:lnSpc>
                <a:spcPts val="4006"/>
              </a:lnSpc>
            </a:pPr>
          </a:p>
          <a:p>
            <a:pPr algn="l">
              <a:lnSpc>
                <a:spcPts val="4006"/>
              </a:lnSpc>
            </a:pPr>
            <a:r>
              <a:rPr lang="en-US" sz="2472" spc="118">
                <a:solidFill>
                  <a:srgbClr val="074785"/>
                </a:solidFill>
                <a:latin typeface="Open Sans"/>
                <a:ea typeface="Open Sans"/>
                <a:cs typeface="Open Sans"/>
                <a:sym typeface="Open Sans"/>
              </a:rPr>
              <a:t>Por razones de latencia, este software no almacena estados (stateless).</a:t>
            </a:r>
          </a:p>
          <a:p>
            <a:pPr algn="l">
              <a:lnSpc>
                <a:spcPts val="4006"/>
              </a:lnSpc>
            </a:pPr>
          </a:p>
          <a:p>
            <a:pPr algn="l">
              <a:lnSpc>
                <a:spcPts val="4006"/>
              </a:lnSpc>
            </a:pPr>
            <a:r>
              <a:rPr lang="en-US" sz="2472" spc="118">
                <a:solidFill>
                  <a:srgbClr val="074785"/>
                </a:solidFill>
                <a:latin typeface="Open Sans"/>
                <a:ea typeface="Open Sans"/>
                <a:cs typeface="Open Sans"/>
                <a:sym typeface="Open Sans"/>
              </a:rPr>
              <a:t>Sin embargo, se podría usar una Base de Datos para Optimización (Caché), no para registro.</a:t>
            </a:r>
          </a:p>
          <a:p>
            <a:pPr algn="l">
              <a:lnSpc>
                <a:spcPts val="4006"/>
              </a:lnSpc>
            </a:pPr>
          </a:p>
          <a:p>
            <a:pPr algn="l">
              <a:lnSpc>
                <a:spcPts val="4006"/>
              </a:lnSpc>
            </a:pPr>
            <a:r>
              <a:rPr lang="en-US" sz="2472" spc="118">
                <a:solidFill>
                  <a:srgbClr val="074785"/>
                </a:solidFill>
                <a:latin typeface="Open Sans"/>
                <a:ea typeface="Open Sans"/>
                <a:cs typeface="Open Sans"/>
                <a:sym typeface="Open Sans"/>
              </a:rPr>
              <a:t>Propuesta: Usar SQLite como "Memoria de Traducción" (Cache/Memoization)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3688437" y="5427062"/>
            <a:ext cx="3067692" cy="908245"/>
            <a:chOff x="0" y="0"/>
            <a:chExt cx="1736794" cy="514209"/>
          </a:xfrm>
        </p:grpSpPr>
        <p:sp>
          <p:nvSpPr>
            <p:cNvPr name="Freeform 3" id="3"/>
            <p:cNvSpPr/>
            <p:nvPr/>
          </p:nvSpPr>
          <p:spPr>
            <a:xfrm flipH="false" flipV="false" rot="0">
              <a:off x="0" y="0"/>
              <a:ext cx="1736794" cy="514209"/>
            </a:xfrm>
            <a:custGeom>
              <a:avLst/>
              <a:gdLst/>
              <a:ahLst/>
              <a:cxnLst/>
              <a:rect r="r" b="b" t="t" l="l"/>
              <a:pathLst>
                <a:path h="514209" w="1736794">
                  <a:moveTo>
                    <a:pt x="40379" y="0"/>
                  </a:moveTo>
                  <a:lnTo>
                    <a:pt x="1696415" y="0"/>
                  </a:lnTo>
                  <a:cubicBezTo>
                    <a:pt x="1718715" y="0"/>
                    <a:pt x="1736794" y="18078"/>
                    <a:pt x="1736794" y="40379"/>
                  </a:cubicBezTo>
                  <a:lnTo>
                    <a:pt x="1736794" y="473830"/>
                  </a:lnTo>
                  <a:cubicBezTo>
                    <a:pt x="1736794" y="496131"/>
                    <a:pt x="1718715" y="514209"/>
                    <a:pt x="1696415" y="514209"/>
                  </a:cubicBezTo>
                  <a:lnTo>
                    <a:pt x="40379" y="514209"/>
                  </a:lnTo>
                  <a:cubicBezTo>
                    <a:pt x="18078" y="514209"/>
                    <a:pt x="0" y="496131"/>
                    <a:pt x="0" y="473830"/>
                  </a:cubicBezTo>
                  <a:lnTo>
                    <a:pt x="0" y="40379"/>
                  </a:lnTo>
                  <a:cubicBezTo>
                    <a:pt x="0" y="18078"/>
                    <a:pt x="18078" y="0"/>
                    <a:pt x="40379" y="0"/>
                  </a:cubicBezTo>
                  <a:close/>
                </a:path>
              </a:pathLst>
            </a:custGeom>
            <a:solidFill>
              <a:srgbClr val="F8DA6F"/>
            </a:solidFill>
            <a:ln w="38100" cap="sq">
              <a:solidFill>
                <a:srgbClr val="074785"/>
              </a:solidFill>
              <a:prstDash val="solid"/>
              <a:miter/>
            </a:ln>
          </p:spPr>
        </p:sp>
        <p:sp>
          <p:nvSpPr>
            <p:cNvPr name="TextBox 4" id="4"/>
            <p:cNvSpPr txBox="true"/>
            <p:nvPr/>
          </p:nvSpPr>
          <p:spPr>
            <a:xfrm>
              <a:off x="0" y="-47625"/>
              <a:ext cx="1736794" cy="561834"/>
            </a:xfrm>
            <a:prstGeom prst="rect">
              <a:avLst/>
            </a:prstGeom>
          </p:spPr>
          <p:txBody>
            <a:bodyPr anchor="ctr" rtlCol="false" tIns="50800" lIns="50800" bIns="50800" rIns="50800"/>
            <a:lstStyle/>
            <a:p>
              <a:pPr algn="ctr">
                <a:lnSpc>
                  <a:spcPts val="3214"/>
                </a:lnSpc>
              </a:pPr>
            </a:p>
          </p:txBody>
        </p:sp>
      </p:grpSp>
      <p:sp>
        <p:nvSpPr>
          <p:cNvPr name="AutoShape 5" id="5"/>
          <p:cNvSpPr/>
          <p:nvPr/>
        </p:nvSpPr>
        <p:spPr>
          <a:xfrm flipH="true">
            <a:off x="3075236" y="5881185"/>
            <a:ext cx="613200" cy="0"/>
          </a:xfrm>
          <a:prstGeom prst="line">
            <a:avLst/>
          </a:prstGeom>
          <a:ln cap="rnd" w="57150">
            <a:solidFill>
              <a:srgbClr val="074785"/>
            </a:solidFill>
            <a:prstDash val="solid"/>
            <a:headEnd type="arrow" len="sm" w="med"/>
            <a:tailEnd type="none" len="sm" w="sm"/>
          </a:ln>
        </p:spPr>
      </p:sp>
      <p:sp>
        <p:nvSpPr>
          <p:cNvPr name="AutoShape 6" id="6"/>
          <p:cNvSpPr/>
          <p:nvPr/>
        </p:nvSpPr>
        <p:spPr>
          <a:xfrm flipH="true">
            <a:off x="9261487" y="5881185"/>
            <a:ext cx="888528" cy="0"/>
          </a:xfrm>
          <a:prstGeom prst="line">
            <a:avLst/>
          </a:prstGeom>
          <a:ln cap="rnd" w="57150">
            <a:solidFill>
              <a:srgbClr val="074785"/>
            </a:solidFill>
            <a:prstDash val="solid"/>
            <a:headEnd type="arrow" len="sm" w="med"/>
            <a:tailEnd type="none" len="sm" w="sm"/>
          </a:ln>
        </p:spPr>
      </p:sp>
      <p:sp>
        <p:nvSpPr>
          <p:cNvPr name="Freeform 7" id="7"/>
          <p:cNvSpPr/>
          <p:nvPr/>
        </p:nvSpPr>
        <p:spPr>
          <a:xfrm flipH="false" flipV="false" rot="0">
            <a:off x="788721" y="483498"/>
            <a:ext cx="1341101" cy="866686"/>
          </a:xfrm>
          <a:custGeom>
            <a:avLst/>
            <a:gdLst/>
            <a:ahLst/>
            <a:cxnLst/>
            <a:rect r="r" b="b" t="t" l="l"/>
            <a:pathLst>
              <a:path h="866686" w="1341101">
                <a:moveTo>
                  <a:pt x="0" y="0"/>
                </a:moveTo>
                <a:lnTo>
                  <a:pt x="1341100" y="0"/>
                </a:lnTo>
                <a:lnTo>
                  <a:pt x="1341100"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8" id="8"/>
          <p:cNvGrpSpPr/>
          <p:nvPr/>
        </p:nvGrpSpPr>
        <p:grpSpPr>
          <a:xfrm rot="0">
            <a:off x="6687342" y="1028700"/>
            <a:ext cx="4412198" cy="1050569"/>
            <a:chOff x="0" y="0"/>
            <a:chExt cx="1592914" cy="379282"/>
          </a:xfrm>
        </p:grpSpPr>
        <p:sp>
          <p:nvSpPr>
            <p:cNvPr name="Freeform 9" id="9"/>
            <p:cNvSpPr/>
            <p:nvPr/>
          </p:nvSpPr>
          <p:spPr>
            <a:xfrm flipH="false" flipV="false" rot="0">
              <a:off x="0" y="0"/>
              <a:ext cx="1592914" cy="379282"/>
            </a:xfrm>
            <a:custGeom>
              <a:avLst/>
              <a:gdLst/>
              <a:ahLst/>
              <a:cxnLst/>
              <a:rect r="r" b="b" t="t" l="l"/>
              <a:pathLst>
                <a:path h="379282" w="1592914">
                  <a:moveTo>
                    <a:pt x="28075" y="0"/>
                  </a:moveTo>
                  <a:lnTo>
                    <a:pt x="1564840" y="0"/>
                  </a:lnTo>
                  <a:cubicBezTo>
                    <a:pt x="1572286" y="0"/>
                    <a:pt x="1579427" y="2958"/>
                    <a:pt x="1584692" y="8223"/>
                  </a:cubicBezTo>
                  <a:cubicBezTo>
                    <a:pt x="1589957" y="13488"/>
                    <a:pt x="1592914" y="20629"/>
                    <a:pt x="1592914" y="28075"/>
                  </a:cubicBezTo>
                  <a:lnTo>
                    <a:pt x="1592914" y="351207"/>
                  </a:lnTo>
                  <a:cubicBezTo>
                    <a:pt x="1592914" y="358653"/>
                    <a:pt x="1589957" y="365794"/>
                    <a:pt x="1584692" y="371059"/>
                  </a:cubicBezTo>
                  <a:cubicBezTo>
                    <a:pt x="1579427" y="376324"/>
                    <a:pt x="1572286" y="379282"/>
                    <a:pt x="1564840" y="379282"/>
                  </a:cubicBezTo>
                  <a:lnTo>
                    <a:pt x="28075" y="379282"/>
                  </a:lnTo>
                  <a:cubicBezTo>
                    <a:pt x="20629" y="379282"/>
                    <a:pt x="13488" y="376324"/>
                    <a:pt x="8223" y="371059"/>
                  </a:cubicBezTo>
                  <a:cubicBezTo>
                    <a:pt x="2958" y="365794"/>
                    <a:pt x="0" y="358653"/>
                    <a:pt x="0" y="351207"/>
                  </a:cubicBezTo>
                  <a:lnTo>
                    <a:pt x="0" y="28075"/>
                  </a:lnTo>
                  <a:cubicBezTo>
                    <a:pt x="0" y="20629"/>
                    <a:pt x="2958" y="13488"/>
                    <a:pt x="8223" y="8223"/>
                  </a:cubicBezTo>
                  <a:cubicBezTo>
                    <a:pt x="13488" y="2958"/>
                    <a:pt x="20629" y="0"/>
                    <a:pt x="28075" y="0"/>
                  </a:cubicBezTo>
                  <a:close/>
                </a:path>
              </a:pathLst>
            </a:custGeom>
            <a:solidFill>
              <a:srgbClr val="FFFFFF"/>
            </a:solidFill>
            <a:ln w="57150" cap="sq">
              <a:solidFill>
                <a:srgbClr val="074785"/>
              </a:solidFill>
              <a:prstDash val="solid"/>
              <a:miter/>
            </a:ln>
          </p:spPr>
        </p:sp>
        <p:sp>
          <p:nvSpPr>
            <p:cNvPr name="TextBox 10" id="10"/>
            <p:cNvSpPr txBox="true"/>
            <p:nvPr/>
          </p:nvSpPr>
          <p:spPr>
            <a:xfrm>
              <a:off x="0" y="-47625"/>
              <a:ext cx="1592914" cy="426907"/>
            </a:xfrm>
            <a:prstGeom prst="rect">
              <a:avLst/>
            </a:prstGeom>
          </p:spPr>
          <p:txBody>
            <a:bodyPr anchor="ctr" rtlCol="false" tIns="50800" lIns="50800" bIns="50800" rIns="50800"/>
            <a:lstStyle/>
            <a:p>
              <a:pPr algn="ctr" marL="0" indent="0" lvl="0">
                <a:lnSpc>
                  <a:spcPts val="3214"/>
                </a:lnSpc>
                <a:spcBef>
                  <a:spcPct val="0"/>
                </a:spcBef>
              </a:pPr>
            </a:p>
          </p:txBody>
        </p:sp>
      </p:grpSp>
      <p:sp>
        <p:nvSpPr>
          <p:cNvPr name="TextBox 11" id="11"/>
          <p:cNvSpPr txBox="true"/>
          <p:nvPr/>
        </p:nvSpPr>
        <p:spPr>
          <a:xfrm rot="0">
            <a:off x="7664062" y="1245409"/>
            <a:ext cx="2567582" cy="512375"/>
          </a:xfrm>
          <a:prstGeom prst="rect">
            <a:avLst/>
          </a:prstGeom>
        </p:spPr>
        <p:txBody>
          <a:bodyPr anchor="t" rtlCol="false" tIns="0" lIns="0" bIns="0" rIns="0">
            <a:spAutoFit/>
          </a:bodyPr>
          <a:lstStyle/>
          <a:p>
            <a:pPr algn="l">
              <a:lnSpc>
                <a:spcPts val="4397"/>
              </a:lnSpc>
            </a:pPr>
            <a:r>
              <a:rPr lang="en-US" b="true" sz="2714" spc="130">
                <a:solidFill>
                  <a:srgbClr val="074785"/>
                </a:solidFill>
                <a:latin typeface="Open Sans Bold"/>
                <a:ea typeface="Open Sans Bold"/>
                <a:cs typeface="Open Sans Bold"/>
                <a:sym typeface="Open Sans Bold"/>
              </a:rPr>
              <a:t>Arquitectura</a:t>
            </a:r>
          </a:p>
        </p:txBody>
      </p:sp>
      <p:sp>
        <p:nvSpPr>
          <p:cNvPr name="TextBox 12" id="12"/>
          <p:cNvSpPr txBox="true"/>
          <p:nvPr/>
        </p:nvSpPr>
        <p:spPr>
          <a:xfrm rot="0">
            <a:off x="3840837" y="5618142"/>
            <a:ext cx="2819976" cy="402562"/>
          </a:xfrm>
          <a:prstGeom prst="rect">
            <a:avLst/>
          </a:prstGeom>
        </p:spPr>
        <p:txBody>
          <a:bodyPr anchor="t" rtlCol="false" tIns="0" lIns="0" bIns="0" rIns="0">
            <a:spAutoFit/>
          </a:bodyPr>
          <a:lstStyle/>
          <a:p>
            <a:pPr algn="l">
              <a:lnSpc>
                <a:spcPts val="3418"/>
              </a:lnSpc>
            </a:pPr>
            <a:r>
              <a:rPr lang="en-US" b="true" sz="2110" spc="101">
                <a:solidFill>
                  <a:srgbClr val="074785"/>
                </a:solidFill>
                <a:latin typeface="Open Sans Bold"/>
                <a:ea typeface="Open Sans Bold"/>
                <a:cs typeface="Open Sans Bold"/>
                <a:sym typeface="Open Sans Bold"/>
              </a:rPr>
              <a:t>Pre-procesamiento</a:t>
            </a:r>
          </a:p>
        </p:txBody>
      </p:sp>
      <p:grpSp>
        <p:nvGrpSpPr>
          <p:cNvPr name="Group 13" id="13"/>
          <p:cNvGrpSpPr/>
          <p:nvPr/>
        </p:nvGrpSpPr>
        <p:grpSpPr>
          <a:xfrm rot="0">
            <a:off x="1028700" y="5427062"/>
            <a:ext cx="2046536" cy="908245"/>
            <a:chOff x="0" y="0"/>
            <a:chExt cx="1158660" cy="514209"/>
          </a:xfrm>
        </p:grpSpPr>
        <p:sp>
          <p:nvSpPr>
            <p:cNvPr name="Freeform 14" id="14"/>
            <p:cNvSpPr/>
            <p:nvPr/>
          </p:nvSpPr>
          <p:spPr>
            <a:xfrm flipH="false" flipV="false" rot="0">
              <a:off x="0" y="0"/>
              <a:ext cx="1158660" cy="514209"/>
            </a:xfrm>
            <a:custGeom>
              <a:avLst/>
              <a:gdLst/>
              <a:ahLst/>
              <a:cxnLst/>
              <a:rect r="r" b="b" t="t" l="l"/>
              <a:pathLst>
                <a:path h="514209" w="1158660">
                  <a:moveTo>
                    <a:pt x="60527" y="0"/>
                  </a:moveTo>
                  <a:lnTo>
                    <a:pt x="1098133" y="0"/>
                  </a:lnTo>
                  <a:cubicBezTo>
                    <a:pt x="1114186" y="0"/>
                    <a:pt x="1129581" y="6377"/>
                    <a:pt x="1140932" y="17728"/>
                  </a:cubicBezTo>
                  <a:cubicBezTo>
                    <a:pt x="1152283" y="29079"/>
                    <a:pt x="1158660" y="44474"/>
                    <a:pt x="1158660" y="60527"/>
                  </a:cubicBezTo>
                  <a:lnTo>
                    <a:pt x="1158660" y="453682"/>
                  </a:lnTo>
                  <a:cubicBezTo>
                    <a:pt x="1158660" y="469735"/>
                    <a:pt x="1152283" y="485130"/>
                    <a:pt x="1140932" y="496481"/>
                  </a:cubicBezTo>
                  <a:cubicBezTo>
                    <a:pt x="1129581" y="507832"/>
                    <a:pt x="1114186" y="514209"/>
                    <a:pt x="1098133" y="514209"/>
                  </a:cubicBezTo>
                  <a:lnTo>
                    <a:pt x="60527" y="514209"/>
                  </a:lnTo>
                  <a:cubicBezTo>
                    <a:pt x="44474" y="514209"/>
                    <a:pt x="29079" y="507832"/>
                    <a:pt x="17728" y="496481"/>
                  </a:cubicBezTo>
                  <a:cubicBezTo>
                    <a:pt x="6377" y="485130"/>
                    <a:pt x="0" y="469735"/>
                    <a:pt x="0" y="453682"/>
                  </a:cubicBezTo>
                  <a:lnTo>
                    <a:pt x="0" y="60527"/>
                  </a:lnTo>
                  <a:cubicBezTo>
                    <a:pt x="0" y="44474"/>
                    <a:pt x="6377" y="29079"/>
                    <a:pt x="17728" y="17728"/>
                  </a:cubicBezTo>
                  <a:cubicBezTo>
                    <a:pt x="29079" y="6377"/>
                    <a:pt x="44474" y="0"/>
                    <a:pt x="60527" y="0"/>
                  </a:cubicBezTo>
                  <a:close/>
                </a:path>
              </a:pathLst>
            </a:custGeom>
            <a:solidFill>
              <a:srgbClr val="C7DE6C"/>
            </a:solidFill>
            <a:ln w="38100" cap="sq">
              <a:solidFill>
                <a:srgbClr val="074785"/>
              </a:solidFill>
              <a:prstDash val="solid"/>
              <a:miter/>
            </a:ln>
          </p:spPr>
        </p:sp>
        <p:sp>
          <p:nvSpPr>
            <p:cNvPr name="TextBox 15" id="15"/>
            <p:cNvSpPr txBox="true"/>
            <p:nvPr/>
          </p:nvSpPr>
          <p:spPr>
            <a:xfrm>
              <a:off x="0" y="-47625"/>
              <a:ext cx="1158660" cy="561834"/>
            </a:xfrm>
            <a:prstGeom prst="rect">
              <a:avLst/>
            </a:prstGeom>
          </p:spPr>
          <p:txBody>
            <a:bodyPr anchor="ctr" rtlCol="false" tIns="50800" lIns="50800" bIns="50800" rIns="50800"/>
            <a:lstStyle/>
            <a:p>
              <a:pPr algn="ctr">
                <a:lnSpc>
                  <a:spcPts val="3214"/>
                </a:lnSpc>
              </a:pPr>
            </a:p>
          </p:txBody>
        </p:sp>
      </p:grpSp>
      <p:sp>
        <p:nvSpPr>
          <p:cNvPr name="TextBox 16" id="16"/>
          <p:cNvSpPr txBox="true"/>
          <p:nvPr/>
        </p:nvSpPr>
        <p:spPr>
          <a:xfrm rot="0">
            <a:off x="1152558" y="5566465"/>
            <a:ext cx="1768786" cy="657714"/>
          </a:xfrm>
          <a:prstGeom prst="rect">
            <a:avLst/>
          </a:prstGeom>
        </p:spPr>
        <p:txBody>
          <a:bodyPr anchor="t" rtlCol="false" tIns="0" lIns="0" bIns="0" rIns="0">
            <a:spAutoFit/>
          </a:bodyPr>
          <a:lstStyle/>
          <a:p>
            <a:pPr algn="ctr">
              <a:lnSpc>
                <a:spcPts val="2616"/>
              </a:lnSpc>
            </a:pPr>
            <a:r>
              <a:rPr lang="en-US" b="true" sz="2110" spc="101">
                <a:solidFill>
                  <a:srgbClr val="074785"/>
                </a:solidFill>
                <a:latin typeface="Open Sans Bold"/>
                <a:ea typeface="Open Sans Bold"/>
                <a:cs typeface="Open Sans Bold"/>
                <a:sym typeface="Open Sans Bold"/>
              </a:rPr>
              <a:t>Captura de Pantalla</a:t>
            </a:r>
          </a:p>
        </p:txBody>
      </p:sp>
      <p:grpSp>
        <p:nvGrpSpPr>
          <p:cNvPr name="Group 17" id="17"/>
          <p:cNvGrpSpPr/>
          <p:nvPr/>
        </p:nvGrpSpPr>
        <p:grpSpPr>
          <a:xfrm rot="0">
            <a:off x="7365120" y="5427062"/>
            <a:ext cx="1896367" cy="908245"/>
            <a:chOff x="0" y="0"/>
            <a:chExt cx="1073640" cy="514209"/>
          </a:xfrm>
        </p:grpSpPr>
        <p:sp>
          <p:nvSpPr>
            <p:cNvPr name="Freeform 18" id="18"/>
            <p:cNvSpPr/>
            <p:nvPr/>
          </p:nvSpPr>
          <p:spPr>
            <a:xfrm flipH="false" flipV="false" rot="0">
              <a:off x="0" y="0"/>
              <a:ext cx="1073640" cy="514209"/>
            </a:xfrm>
            <a:custGeom>
              <a:avLst/>
              <a:gdLst/>
              <a:ahLst/>
              <a:cxnLst/>
              <a:rect r="r" b="b" t="t" l="l"/>
              <a:pathLst>
                <a:path h="514209" w="1073640">
                  <a:moveTo>
                    <a:pt x="65320" y="0"/>
                  </a:moveTo>
                  <a:lnTo>
                    <a:pt x="1008320" y="0"/>
                  </a:lnTo>
                  <a:cubicBezTo>
                    <a:pt x="1025644" y="0"/>
                    <a:pt x="1042259" y="6882"/>
                    <a:pt x="1054509" y="19132"/>
                  </a:cubicBezTo>
                  <a:cubicBezTo>
                    <a:pt x="1066758" y="31382"/>
                    <a:pt x="1073640" y="47996"/>
                    <a:pt x="1073640" y="65320"/>
                  </a:cubicBezTo>
                  <a:lnTo>
                    <a:pt x="1073640" y="448889"/>
                  </a:lnTo>
                  <a:cubicBezTo>
                    <a:pt x="1073640" y="484964"/>
                    <a:pt x="1044396" y="514209"/>
                    <a:pt x="1008320" y="514209"/>
                  </a:cubicBezTo>
                  <a:lnTo>
                    <a:pt x="65320" y="514209"/>
                  </a:lnTo>
                  <a:cubicBezTo>
                    <a:pt x="47996" y="514209"/>
                    <a:pt x="31382" y="507327"/>
                    <a:pt x="19132" y="495077"/>
                  </a:cubicBezTo>
                  <a:cubicBezTo>
                    <a:pt x="6882" y="482827"/>
                    <a:pt x="0" y="466213"/>
                    <a:pt x="0" y="448889"/>
                  </a:cubicBezTo>
                  <a:lnTo>
                    <a:pt x="0" y="65320"/>
                  </a:lnTo>
                  <a:cubicBezTo>
                    <a:pt x="0" y="47996"/>
                    <a:pt x="6882" y="31382"/>
                    <a:pt x="19132" y="19132"/>
                  </a:cubicBezTo>
                  <a:cubicBezTo>
                    <a:pt x="31382" y="6882"/>
                    <a:pt x="47996" y="0"/>
                    <a:pt x="65320" y="0"/>
                  </a:cubicBezTo>
                  <a:close/>
                </a:path>
              </a:pathLst>
            </a:custGeom>
            <a:solidFill>
              <a:srgbClr val="F8DA6F"/>
            </a:solidFill>
            <a:ln w="38100" cap="sq">
              <a:solidFill>
                <a:srgbClr val="074785"/>
              </a:solidFill>
              <a:prstDash val="solid"/>
              <a:miter/>
            </a:ln>
          </p:spPr>
        </p:sp>
        <p:sp>
          <p:nvSpPr>
            <p:cNvPr name="TextBox 19" id="19"/>
            <p:cNvSpPr txBox="true"/>
            <p:nvPr/>
          </p:nvSpPr>
          <p:spPr>
            <a:xfrm>
              <a:off x="0" y="-47625"/>
              <a:ext cx="1073640" cy="561834"/>
            </a:xfrm>
            <a:prstGeom prst="rect">
              <a:avLst/>
            </a:prstGeom>
          </p:spPr>
          <p:txBody>
            <a:bodyPr anchor="ctr" rtlCol="false" tIns="50800" lIns="50800" bIns="50800" rIns="50800"/>
            <a:lstStyle/>
            <a:p>
              <a:pPr algn="ctr">
                <a:lnSpc>
                  <a:spcPts val="3214"/>
                </a:lnSpc>
              </a:pPr>
            </a:p>
          </p:txBody>
        </p:sp>
      </p:grpSp>
      <p:sp>
        <p:nvSpPr>
          <p:cNvPr name="TextBox 20" id="20"/>
          <p:cNvSpPr txBox="true"/>
          <p:nvPr/>
        </p:nvSpPr>
        <p:spPr>
          <a:xfrm rot="0">
            <a:off x="7519012" y="5531346"/>
            <a:ext cx="1588582" cy="652353"/>
          </a:xfrm>
          <a:prstGeom prst="rect">
            <a:avLst/>
          </a:prstGeom>
        </p:spPr>
        <p:txBody>
          <a:bodyPr anchor="t" rtlCol="false" tIns="0" lIns="0" bIns="0" rIns="0">
            <a:spAutoFit/>
          </a:bodyPr>
          <a:lstStyle/>
          <a:p>
            <a:pPr algn="ctr">
              <a:lnSpc>
                <a:spcPts val="2658"/>
              </a:lnSpc>
            </a:pPr>
            <a:r>
              <a:rPr lang="en-US" b="true" sz="2110" spc="101">
                <a:solidFill>
                  <a:srgbClr val="074785"/>
                </a:solidFill>
                <a:latin typeface="Open Sans Bold"/>
                <a:ea typeface="Open Sans Bold"/>
                <a:cs typeface="Open Sans Bold"/>
                <a:sym typeface="Open Sans Bold"/>
              </a:rPr>
              <a:t>Extracción</a:t>
            </a:r>
          </a:p>
          <a:p>
            <a:pPr algn="ctr">
              <a:lnSpc>
                <a:spcPts val="2658"/>
              </a:lnSpc>
            </a:pPr>
            <a:r>
              <a:rPr lang="en-US" b="true" sz="2110" spc="101">
                <a:solidFill>
                  <a:srgbClr val="074785"/>
                </a:solidFill>
                <a:latin typeface="Open Sans Bold"/>
                <a:ea typeface="Open Sans Bold"/>
                <a:cs typeface="Open Sans Bold"/>
                <a:sym typeface="Open Sans Bold"/>
              </a:rPr>
              <a:t>de texto</a:t>
            </a:r>
          </a:p>
        </p:txBody>
      </p:sp>
      <p:sp>
        <p:nvSpPr>
          <p:cNvPr name="AutoShape 21" id="21"/>
          <p:cNvSpPr/>
          <p:nvPr/>
        </p:nvSpPr>
        <p:spPr>
          <a:xfrm flipH="true">
            <a:off x="6756129" y="5881185"/>
            <a:ext cx="608991" cy="0"/>
          </a:xfrm>
          <a:prstGeom prst="line">
            <a:avLst/>
          </a:prstGeom>
          <a:ln cap="rnd" w="57150">
            <a:solidFill>
              <a:srgbClr val="074785"/>
            </a:solidFill>
            <a:prstDash val="solid"/>
            <a:headEnd type="arrow" len="sm" w="med"/>
            <a:tailEnd type="none" len="sm" w="sm"/>
          </a:ln>
        </p:spPr>
      </p:sp>
      <p:grpSp>
        <p:nvGrpSpPr>
          <p:cNvPr name="Group 22" id="22"/>
          <p:cNvGrpSpPr/>
          <p:nvPr/>
        </p:nvGrpSpPr>
        <p:grpSpPr>
          <a:xfrm rot="0">
            <a:off x="12809752" y="5427062"/>
            <a:ext cx="1926401" cy="908245"/>
            <a:chOff x="0" y="0"/>
            <a:chExt cx="1090644" cy="514209"/>
          </a:xfrm>
        </p:grpSpPr>
        <p:sp>
          <p:nvSpPr>
            <p:cNvPr name="Freeform 23" id="23"/>
            <p:cNvSpPr/>
            <p:nvPr/>
          </p:nvSpPr>
          <p:spPr>
            <a:xfrm flipH="false" flipV="false" rot="0">
              <a:off x="0" y="0"/>
              <a:ext cx="1090644" cy="514209"/>
            </a:xfrm>
            <a:custGeom>
              <a:avLst/>
              <a:gdLst/>
              <a:ahLst/>
              <a:cxnLst/>
              <a:rect r="r" b="b" t="t" l="l"/>
              <a:pathLst>
                <a:path h="514209" w="1090644">
                  <a:moveTo>
                    <a:pt x="64302" y="0"/>
                  </a:moveTo>
                  <a:lnTo>
                    <a:pt x="1026343" y="0"/>
                  </a:lnTo>
                  <a:cubicBezTo>
                    <a:pt x="1061855" y="0"/>
                    <a:pt x="1090644" y="28789"/>
                    <a:pt x="1090644" y="64302"/>
                  </a:cubicBezTo>
                  <a:lnTo>
                    <a:pt x="1090644" y="449907"/>
                  </a:lnTo>
                  <a:cubicBezTo>
                    <a:pt x="1090644" y="485420"/>
                    <a:pt x="1061855" y="514209"/>
                    <a:pt x="1026343" y="514209"/>
                  </a:cubicBezTo>
                  <a:lnTo>
                    <a:pt x="64302" y="514209"/>
                  </a:lnTo>
                  <a:cubicBezTo>
                    <a:pt x="28789" y="514209"/>
                    <a:pt x="0" y="485420"/>
                    <a:pt x="0" y="449907"/>
                  </a:cubicBezTo>
                  <a:lnTo>
                    <a:pt x="0" y="64302"/>
                  </a:lnTo>
                  <a:cubicBezTo>
                    <a:pt x="0" y="28789"/>
                    <a:pt x="28789" y="0"/>
                    <a:pt x="64302" y="0"/>
                  </a:cubicBezTo>
                  <a:close/>
                </a:path>
              </a:pathLst>
            </a:custGeom>
            <a:solidFill>
              <a:srgbClr val="F8DA6F"/>
            </a:solidFill>
            <a:ln w="38100" cap="sq">
              <a:solidFill>
                <a:srgbClr val="074785"/>
              </a:solidFill>
              <a:prstDash val="solid"/>
              <a:miter/>
            </a:ln>
          </p:spPr>
        </p:sp>
        <p:sp>
          <p:nvSpPr>
            <p:cNvPr name="TextBox 24" id="24"/>
            <p:cNvSpPr txBox="true"/>
            <p:nvPr/>
          </p:nvSpPr>
          <p:spPr>
            <a:xfrm>
              <a:off x="0" y="-47625"/>
              <a:ext cx="1090644" cy="561834"/>
            </a:xfrm>
            <a:prstGeom prst="rect">
              <a:avLst/>
            </a:prstGeom>
          </p:spPr>
          <p:txBody>
            <a:bodyPr anchor="ctr" rtlCol="false" tIns="50800" lIns="50800" bIns="50800" rIns="50800"/>
            <a:lstStyle/>
            <a:p>
              <a:pPr algn="ctr">
                <a:lnSpc>
                  <a:spcPts val="3214"/>
                </a:lnSpc>
              </a:pPr>
            </a:p>
          </p:txBody>
        </p:sp>
      </p:grpSp>
      <p:sp>
        <p:nvSpPr>
          <p:cNvPr name="AutoShape 25" id="25"/>
          <p:cNvSpPr/>
          <p:nvPr/>
        </p:nvSpPr>
        <p:spPr>
          <a:xfrm flipH="true">
            <a:off x="12196552" y="5881185"/>
            <a:ext cx="613200" cy="0"/>
          </a:xfrm>
          <a:prstGeom prst="line">
            <a:avLst/>
          </a:prstGeom>
          <a:ln cap="rnd" w="57150">
            <a:solidFill>
              <a:srgbClr val="074785"/>
            </a:solidFill>
            <a:prstDash val="solid"/>
            <a:headEnd type="arrow" len="sm" w="med"/>
            <a:tailEnd type="none" len="sm" w="sm"/>
          </a:ln>
        </p:spPr>
      </p:sp>
      <p:sp>
        <p:nvSpPr>
          <p:cNvPr name="TextBox 26" id="26"/>
          <p:cNvSpPr txBox="true"/>
          <p:nvPr/>
        </p:nvSpPr>
        <p:spPr>
          <a:xfrm rot="0">
            <a:off x="12959504" y="5587917"/>
            <a:ext cx="1626897" cy="636262"/>
          </a:xfrm>
          <a:prstGeom prst="rect">
            <a:avLst/>
          </a:prstGeom>
        </p:spPr>
        <p:txBody>
          <a:bodyPr anchor="t" rtlCol="false" tIns="0" lIns="0" bIns="0" rIns="0">
            <a:spAutoFit/>
          </a:bodyPr>
          <a:lstStyle/>
          <a:p>
            <a:pPr algn="ctr">
              <a:lnSpc>
                <a:spcPts val="2553"/>
              </a:lnSpc>
            </a:pPr>
            <a:r>
              <a:rPr lang="en-US" b="true" sz="2110" spc="101">
                <a:solidFill>
                  <a:srgbClr val="074785"/>
                </a:solidFill>
                <a:latin typeface="Open Sans Bold"/>
                <a:ea typeface="Open Sans Bold"/>
                <a:cs typeface="Open Sans Bold"/>
                <a:sym typeface="Open Sans Bold"/>
              </a:rPr>
              <a:t>Traducción</a:t>
            </a:r>
          </a:p>
          <a:p>
            <a:pPr algn="ctr">
              <a:lnSpc>
                <a:spcPts val="2553"/>
              </a:lnSpc>
            </a:pPr>
            <a:r>
              <a:rPr lang="en-US" b="true" sz="2110" spc="101">
                <a:solidFill>
                  <a:srgbClr val="074785"/>
                </a:solidFill>
                <a:latin typeface="Open Sans Bold"/>
                <a:ea typeface="Open Sans Bold"/>
                <a:cs typeface="Open Sans Bold"/>
                <a:sym typeface="Open Sans Bold"/>
              </a:rPr>
              <a:t>de texto</a:t>
            </a:r>
          </a:p>
        </p:txBody>
      </p:sp>
      <p:grpSp>
        <p:nvGrpSpPr>
          <p:cNvPr name="Group 27" id="27"/>
          <p:cNvGrpSpPr/>
          <p:nvPr/>
        </p:nvGrpSpPr>
        <p:grpSpPr>
          <a:xfrm rot="0">
            <a:off x="10150015" y="5427062"/>
            <a:ext cx="2046536" cy="908245"/>
            <a:chOff x="0" y="0"/>
            <a:chExt cx="1158660" cy="514209"/>
          </a:xfrm>
        </p:grpSpPr>
        <p:sp>
          <p:nvSpPr>
            <p:cNvPr name="Freeform 28" id="28"/>
            <p:cNvSpPr/>
            <p:nvPr/>
          </p:nvSpPr>
          <p:spPr>
            <a:xfrm flipH="false" flipV="false" rot="0">
              <a:off x="0" y="0"/>
              <a:ext cx="1158660" cy="514209"/>
            </a:xfrm>
            <a:custGeom>
              <a:avLst/>
              <a:gdLst/>
              <a:ahLst/>
              <a:cxnLst/>
              <a:rect r="r" b="b" t="t" l="l"/>
              <a:pathLst>
                <a:path h="514209" w="1158660">
                  <a:moveTo>
                    <a:pt x="60527" y="0"/>
                  </a:moveTo>
                  <a:lnTo>
                    <a:pt x="1098133" y="0"/>
                  </a:lnTo>
                  <a:cubicBezTo>
                    <a:pt x="1114186" y="0"/>
                    <a:pt x="1129581" y="6377"/>
                    <a:pt x="1140932" y="17728"/>
                  </a:cubicBezTo>
                  <a:cubicBezTo>
                    <a:pt x="1152283" y="29079"/>
                    <a:pt x="1158660" y="44474"/>
                    <a:pt x="1158660" y="60527"/>
                  </a:cubicBezTo>
                  <a:lnTo>
                    <a:pt x="1158660" y="453682"/>
                  </a:lnTo>
                  <a:cubicBezTo>
                    <a:pt x="1158660" y="469735"/>
                    <a:pt x="1152283" y="485130"/>
                    <a:pt x="1140932" y="496481"/>
                  </a:cubicBezTo>
                  <a:cubicBezTo>
                    <a:pt x="1129581" y="507832"/>
                    <a:pt x="1114186" y="514209"/>
                    <a:pt x="1098133" y="514209"/>
                  </a:cubicBezTo>
                  <a:lnTo>
                    <a:pt x="60527" y="514209"/>
                  </a:lnTo>
                  <a:cubicBezTo>
                    <a:pt x="44474" y="514209"/>
                    <a:pt x="29079" y="507832"/>
                    <a:pt x="17728" y="496481"/>
                  </a:cubicBezTo>
                  <a:cubicBezTo>
                    <a:pt x="6377" y="485130"/>
                    <a:pt x="0" y="469735"/>
                    <a:pt x="0" y="453682"/>
                  </a:cubicBezTo>
                  <a:lnTo>
                    <a:pt x="0" y="60527"/>
                  </a:lnTo>
                  <a:cubicBezTo>
                    <a:pt x="0" y="44474"/>
                    <a:pt x="6377" y="29079"/>
                    <a:pt x="17728" y="17728"/>
                  </a:cubicBezTo>
                  <a:cubicBezTo>
                    <a:pt x="29079" y="6377"/>
                    <a:pt x="44474" y="0"/>
                    <a:pt x="60527" y="0"/>
                  </a:cubicBezTo>
                  <a:close/>
                </a:path>
              </a:pathLst>
            </a:custGeom>
            <a:solidFill>
              <a:srgbClr val="F8DA6F"/>
            </a:solidFill>
            <a:ln w="38100" cap="sq">
              <a:solidFill>
                <a:srgbClr val="074785"/>
              </a:solidFill>
              <a:prstDash val="solid"/>
              <a:miter/>
            </a:ln>
          </p:spPr>
        </p:sp>
        <p:sp>
          <p:nvSpPr>
            <p:cNvPr name="TextBox 29" id="29"/>
            <p:cNvSpPr txBox="true"/>
            <p:nvPr/>
          </p:nvSpPr>
          <p:spPr>
            <a:xfrm>
              <a:off x="0" y="-47625"/>
              <a:ext cx="1158660" cy="561834"/>
            </a:xfrm>
            <a:prstGeom prst="rect">
              <a:avLst/>
            </a:prstGeom>
          </p:spPr>
          <p:txBody>
            <a:bodyPr anchor="ctr" rtlCol="false" tIns="50800" lIns="50800" bIns="50800" rIns="50800"/>
            <a:lstStyle/>
            <a:p>
              <a:pPr algn="ctr">
                <a:lnSpc>
                  <a:spcPts val="3214"/>
                </a:lnSpc>
              </a:pPr>
            </a:p>
          </p:txBody>
        </p:sp>
      </p:grpSp>
      <p:sp>
        <p:nvSpPr>
          <p:cNvPr name="TextBox 30" id="30"/>
          <p:cNvSpPr txBox="true"/>
          <p:nvPr/>
        </p:nvSpPr>
        <p:spPr>
          <a:xfrm rot="0">
            <a:off x="10273873" y="5566465"/>
            <a:ext cx="1768786" cy="657714"/>
          </a:xfrm>
          <a:prstGeom prst="rect">
            <a:avLst/>
          </a:prstGeom>
        </p:spPr>
        <p:txBody>
          <a:bodyPr anchor="t" rtlCol="false" tIns="0" lIns="0" bIns="0" rIns="0">
            <a:spAutoFit/>
          </a:bodyPr>
          <a:lstStyle/>
          <a:p>
            <a:pPr algn="ctr">
              <a:lnSpc>
                <a:spcPts val="2616"/>
              </a:lnSpc>
            </a:pPr>
            <a:r>
              <a:rPr lang="en-US" b="true" sz="2110" spc="101">
                <a:solidFill>
                  <a:srgbClr val="074785"/>
                </a:solidFill>
                <a:latin typeface="Open Sans Bold"/>
                <a:ea typeface="Open Sans Bold"/>
                <a:cs typeface="Open Sans Bold"/>
                <a:sym typeface="Open Sans Bold"/>
              </a:rPr>
              <a:t>Inferencia</a:t>
            </a:r>
          </a:p>
          <a:p>
            <a:pPr algn="ctr">
              <a:lnSpc>
                <a:spcPts val="2616"/>
              </a:lnSpc>
            </a:pPr>
            <a:r>
              <a:rPr lang="en-US" b="true" sz="2110" spc="101">
                <a:solidFill>
                  <a:srgbClr val="074785"/>
                </a:solidFill>
                <a:latin typeface="Open Sans Bold"/>
                <a:ea typeface="Open Sans Bold"/>
                <a:cs typeface="Open Sans Bold"/>
                <a:sym typeface="Open Sans Bold"/>
              </a:rPr>
              <a:t>de texto</a:t>
            </a:r>
          </a:p>
        </p:txBody>
      </p:sp>
      <p:grpSp>
        <p:nvGrpSpPr>
          <p:cNvPr name="Group 31" id="31"/>
          <p:cNvGrpSpPr/>
          <p:nvPr/>
        </p:nvGrpSpPr>
        <p:grpSpPr>
          <a:xfrm rot="0">
            <a:off x="15654632" y="5427062"/>
            <a:ext cx="1896367" cy="908245"/>
            <a:chOff x="0" y="0"/>
            <a:chExt cx="1073640" cy="514209"/>
          </a:xfrm>
        </p:grpSpPr>
        <p:sp>
          <p:nvSpPr>
            <p:cNvPr name="Freeform 32" id="32"/>
            <p:cNvSpPr/>
            <p:nvPr/>
          </p:nvSpPr>
          <p:spPr>
            <a:xfrm flipH="false" flipV="false" rot="0">
              <a:off x="0" y="0"/>
              <a:ext cx="1073640" cy="514209"/>
            </a:xfrm>
            <a:custGeom>
              <a:avLst/>
              <a:gdLst/>
              <a:ahLst/>
              <a:cxnLst/>
              <a:rect r="r" b="b" t="t" l="l"/>
              <a:pathLst>
                <a:path h="514209" w="1073640">
                  <a:moveTo>
                    <a:pt x="65320" y="0"/>
                  </a:moveTo>
                  <a:lnTo>
                    <a:pt x="1008320" y="0"/>
                  </a:lnTo>
                  <a:cubicBezTo>
                    <a:pt x="1025644" y="0"/>
                    <a:pt x="1042259" y="6882"/>
                    <a:pt x="1054509" y="19132"/>
                  </a:cubicBezTo>
                  <a:cubicBezTo>
                    <a:pt x="1066758" y="31382"/>
                    <a:pt x="1073640" y="47996"/>
                    <a:pt x="1073640" y="65320"/>
                  </a:cubicBezTo>
                  <a:lnTo>
                    <a:pt x="1073640" y="448889"/>
                  </a:lnTo>
                  <a:cubicBezTo>
                    <a:pt x="1073640" y="484964"/>
                    <a:pt x="1044396" y="514209"/>
                    <a:pt x="1008320" y="514209"/>
                  </a:cubicBezTo>
                  <a:lnTo>
                    <a:pt x="65320" y="514209"/>
                  </a:lnTo>
                  <a:cubicBezTo>
                    <a:pt x="47996" y="514209"/>
                    <a:pt x="31382" y="507327"/>
                    <a:pt x="19132" y="495077"/>
                  </a:cubicBezTo>
                  <a:cubicBezTo>
                    <a:pt x="6882" y="482827"/>
                    <a:pt x="0" y="466213"/>
                    <a:pt x="0" y="448889"/>
                  </a:cubicBezTo>
                  <a:lnTo>
                    <a:pt x="0" y="65320"/>
                  </a:lnTo>
                  <a:cubicBezTo>
                    <a:pt x="0" y="47996"/>
                    <a:pt x="6882" y="31382"/>
                    <a:pt x="19132" y="19132"/>
                  </a:cubicBezTo>
                  <a:cubicBezTo>
                    <a:pt x="31382" y="6882"/>
                    <a:pt x="47996" y="0"/>
                    <a:pt x="65320" y="0"/>
                  </a:cubicBezTo>
                  <a:close/>
                </a:path>
              </a:pathLst>
            </a:custGeom>
            <a:solidFill>
              <a:srgbClr val="C7DE6C"/>
            </a:solidFill>
            <a:ln w="38100" cap="sq">
              <a:solidFill>
                <a:srgbClr val="074785"/>
              </a:solidFill>
              <a:prstDash val="solid"/>
              <a:miter/>
            </a:ln>
          </p:spPr>
        </p:sp>
        <p:sp>
          <p:nvSpPr>
            <p:cNvPr name="TextBox 33" id="33"/>
            <p:cNvSpPr txBox="true"/>
            <p:nvPr/>
          </p:nvSpPr>
          <p:spPr>
            <a:xfrm>
              <a:off x="0" y="-47625"/>
              <a:ext cx="1073640" cy="561834"/>
            </a:xfrm>
            <a:prstGeom prst="rect">
              <a:avLst/>
            </a:prstGeom>
          </p:spPr>
          <p:txBody>
            <a:bodyPr anchor="ctr" rtlCol="false" tIns="50800" lIns="50800" bIns="50800" rIns="50800"/>
            <a:lstStyle/>
            <a:p>
              <a:pPr algn="ctr">
                <a:lnSpc>
                  <a:spcPts val="3214"/>
                </a:lnSpc>
              </a:pPr>
            </a:p>
          </p:txBody>
        </p:sp>
      </p:grpSp>
      <p:sp>
        <p:nvSpPr>
          <p:cNvPr name="TextBox 34" id="34"/>
          <p:cNvSpPr txBox="true"/>
          <p:nvPr/>
        </p:nvSpPr>
        <p:spPr>
          <a:xfrm rot="0">
            <a:off x="15808524" y="5531346"/>
            <a:ext cx="1588582" cy="652353"/>
          </a:xfrm>
          <a:prstGeom prst="rect">
            <a:avLst/>
          </a:prstGeom>
        </p:spPr>
        <p:txBody>
          <a:bodyPr anchor="t" rtlCol="false" tIns="0" lIns="0" bIns="0" rIns="0">
            <a:spAutoFit/>
          </a:bodyPr>
          <a:lstStyle/>
          <a:p>
            <a:pPr algn="ctr">
              <a:lnSpc>
                <a:spcPts val="2658"/>
              </a:lnSpc>
            </a:pPr>
            <a:r>
              <a:rPr lang="en-US" b="true" sz="2110" spc="101">
                <a:solidFill>
                  <a:srgbClr val="074785"/>
                </a:solidFill>
                <a:latin typeface="Open Sans Bold"/>
                <a:ea typeface="Open Sans Bold"/>
                <a:cs typeface="Open Sans Bold"/>
                <a:sym typeface="Open Sans Bold"/>
              </a:rPr>
              <a:t>Texto en</a:t>
            </a:r>
          </a:p>
          <a:p>
            <a:pPr algn="ctr">
              <a:lnSpc>
                <a:spcPts val="2658"/>
              </a:lnSpc>
            </a:pPr>
            <a:r>
              <a:rPr lang="en-US" b="true" sz="2110" spc="101">
                <a:solidFill>
                  <a:srgbClr val="074785"/>
                </a:solidFill>
                <a:latin typeface="Open Sans Bold"/>
                <a:ea typeface="Open Sans Bold"/>
                <a:cs typeface="Open Sans Bold"/>
                <a:sym typeface="Open Sans Bold"/>
              </a:rPr>
              <a:t>Interfaz</a:t>
            </a:r>
          </a:p>
        </p:txBody>
      </p:sp>
      <p:sp>
        <p:nvSpPr>
          <p:cNvPr name="AutoShape 35" id="35"/>
          <p:cNvSpPr/>
          <p:nvPr/>
        </p:nvSpPr>
        <p:spPr>
          <a:xfrm flipH="true">
            <a:off x="14736153" y="5881185"/>
            <a:ext cx="918479" cy="0"/>
          </a:xfrm>
          <a:prstGeom prst="line">
            <a:avLst/>
          </a:prstGeom>
          <a:ln cap="rnd" w="57150">
            <a:solidFill>
              <a:srgbClr val="074785"/>
            </a:solidFill>
            <a:prstDash val="solid"/>
            <a:headEnd type="arrow" len="sm" w="med"/>
            <a:tailEnd type="none" len="sm" w="sm"/>
          </a:ln>
        </p:spPr>
      </p:sp>
      <p:grpSp>
        <p:nvGrpSpPr>
          <p:cNvPr name="Group 36" id="36"/>
          <p:cNvGrpSpPr/>
          <p:nvPr/>
        </p:nvGrpSpPr>
        <p:grpSpPr>
          <a:xfrm rot="0">
            <a:off x="15624598" y="7186365"/>
            <a:ext cx="1926401" cy="908245"/>
            <a:chOff x="0" y="0"/>
            <a:chExt cx="1090644" cy="514209"/>
          </a:xfrm>
        </p:grpSpPr>
        <p:sp>
          <p:nvSpPr>
            <p:cNvPr name="Freeform 37" id="37"/>
            <p:cNvSpPr/>
            <p:nvPr/>
          </p:nvSpPr>
          <p:spPr>
            <a:xfrm flipH="false" flipV="false" rot="0">
              <a:off x="0" y="0"/>
              <a:ext cx="1090644" cy="514209"/>
            </a:xfrm>
            <a:custGeom>
              <a:avLst/>
              <a:gdLst/>
              <a:ahLst/>
              <a:cxnLst/>
              <a:rect r="r" b="b" t="t" l="l"/>
              <a:pathLst>
                <a:path h="514209" w="1090644">
                  <a:moveTo>
                    <a:pt x="64302" y="0"/>
                  </a:moveTo>
                  <a:lnTo>
                    <a:pt x="1026343" y="0"/>
                  </a:lnTo>
                  <a:cubicBezTo>
                    <a:pt x="1061855" y="0"/>
                    <a:pt x="1090644" y="28789"/>
                    <a:pt x="1090644" y="64302"/>
                  </a:cubicBezTo>
                  <a:lnTo>
                    <a:pt x="1090644" y="449907"/>
                  </a:lnTo>
                  <a:cubicBezTo>
                    <a:pt x="1090644" y="485420"/>
                    <a:pt x="1061855" y="514209"/>
                    <a:pt x="1026343" y="514209"/>
                  </a:cubicBezTo>
                  <a:lnTo>
                    <a:pt x="64302" y="514209"/>
                  </a:lnTo>
                  <a:cubicBezTo>
                    <a:pt x="28789" y="514209"/>
                    <a:pt x="0" y="485420"/>
                    <a:pt x="0" y="449907"/>
                  </a:cubicBezTo>
                  <a:lnTo>
                    <a:pt x="0" y="64302"/>
                  </a:lnTo>
                  <a:cubicBezTo>
                    <a:pt x="0" y="28789"/>
                    <a:pt x="28789" y="0"/>
                    <a:pt x="64302" y="0"/>
                  </a:cubicBezTo>
                  <a:close/>
                </a:path>
              </a:pathLst>
            </a:custGeom>
            <a:solidFill>
              <a:srgbClr val="F8DA6F"/>
            </a:solidFill>
            <a:ln w="38100" cap="sq">
              <a:solidFill>
                <a:srgbClr val="074785"/>
              </a:solidFill>
              <a:prstDash val="solid"/>
              <a:miter/>
            </a:ln>
          </p:spPr>
        </p:sp>
        <p:sp>
          <p:nvSpPr>
            <p:cNvPr name="TextBox 38" id="38"/>
            <p:cNvSpPr txBox="true"/>
            <p:nvPr/>
          </p:nvSpPr>
          <p:spPr>
            <a:xfrm>
              <a:off x="0" y="-47625"/>
              <a:ext cx="1090644" cy="561834"/>
            </a:xfrm>
            <a:prstGeom prst="rect">
              <a:avLst/>
            </a:prstGeom>
          </p:spPr>
          <p:txBody>
            <a:bodyPr anchor="ctr" rtlCol="false" tIns="50800" lIns="50800" bIns="50800" rIns="50800"/>
            <a:lstStyle/>
            <a:p>
              <a:pPr algn="ctr">
                <a:lnSpc>
                  <a:spcPts val="3214"/>
                </a:lnSpc>
              </a:pPr>
            </a:p>
          </p:txBody>
        </p:sp>
      </p:grpSp>
      <p:sp>
        <p:nvSpPr>
          <p:cNvPr name="TextBox 39" id="39"/>
          <p:cNvSpPr txBox="true"/>
          <p:nvPr/>
        </p:nvSpPr>
        <p:spPr>
          <a:xfrm rot="0">
            <a:off x="15789367" y="7322356"/>
            <a:ext cx="1626897" cy="636262"/>
          </a:xfrm>
          <a:prstGeom prst="rect">
            <a:avLst/>
          </a:prstGeom>
        </p:spPr>
        <p:txBody>
          <a:bodyPr anchor="t" rtlCol="false" tIns="0" lIns="0" bIns="0" rIns="0">
            <a:spAutoFit/>
          </a:bodyPr>
          <a:lstStyle/>
          <a:p>
            <a:pPr algn="ctr">
              <a:lnSpc>
                <a:spcPts val="2553"/>
              </a:lnSpc>
            </a:pPr>
            <a:r>
              <a:rPr lang="en-US" b="true" sz="2110" spc="101">
                <a:solidFill>
                  <a:srgbClr val="074785"/>
                </a:solidFill>
                <a:latin typeface="Open Sans Bold"/>
                <a:ea typeface="Open Sans Bold"/>
                <a:cs typeface="Open Sans Bold"/>
                <a:sym typeface="Open Sans Bold"/>
              </a:rPr>
              <a:t>Base de</a:t>
            </a:r>
          </a:p>
          <a:p>
            <a:pPr algn="ctr">
              <a:lnSpc>
                <a:spcPts val="2553"/>
              </a:lnSpc>
            </a:pPr>
            <a:r>
              <a:rPr lang="en-US" b="true" sz="2110" spc="101">
                <a:solidFill>
                  <a:srgbClr val="074785"/>
                </a:solidFill>
                <a:latin typeface="Open Sans Bold"/>
                <a:ea typeface="Open Sans Bold"/>
                <a:cs typeface="Open Sans Bold"/>
                <a:sym typeface="Open Sans Bold"/>
              </a:rPr>
              <a:t>Datos</a:t>
            </a:r>
          </a:p>
        </p:txBody>
      </p:sp>
      <p:sp>
        <p:nvSpPr>
          <p:cNvPr name="AutoShape 40" id="40"/>
          <p:cNvSpPr/>
          <p:nvPr/>
        </p:nvSpPr>
        <p:spPr>
          <a:xfrm flipH="true" flipV="true">
            <a:off x="13772953" y="6335307"/>
            <a:ext cx="1851645" cy="1305180"/>
          </a:xfrm>
          <a:prstGeom prst="line">
            <a:avLst/>
          </a:prstGeom>
          <a:ln cap="rnd" w="57150">
            <a:solidFill>
              <a:srgbClr val="074785"/>
            </a:solidFill>
            <a:prstDash val="solid"/>
            <a:headEnd type="arrow" len="sm" w="med"/>
            <a:tailEnd type="none" len="sm" w="sm"/>
          </a:ln>
        </p:spPr>
      </p:sp>
      <p:grpSp>
        <p:nvGrpSpPr>
          <p:cNvPr name="Group 41" id="41"/>
          <p:cNvGrpSpPr/>
          <p:nvPr/>
        </p:nvGrpSpPr>
        <p:grpSpPr>
          <a:xfrm rot="0">
            <a:off x="4585734" y="3243183"/>
            <a:ext cx="2046536" cy="908245"/>
            <a:chOff x="0" y="0"/>
            <a:chExt cx="1158660" cy="514209"/>
          </a:xfrm>
        </p:grpSpPr>
        <p:sp>
          <p:nvSpPr>
            <p:cNvPr name="Freeform 42" id="42"/>
            <p:cNvSpPr/>
            <p:nvPr/>
          </p:nvSpPr>
          <p:spPr>
            <a:xfrm flipH="false" flipV="false" rot="0">
              <a:off x="0" y="0"/>
              <a:ext cx="1158660" cy="514209"/>
            </a:xfrm>
            <a:custGeom>
              <a:avLst/>
              <a:gdLst/>
              <a:ahLst/>
              <a:cxnLst/>
              <a:rect r="r" b="b" t="t" l="l"/>
              <a:pathLst>
                <a:path h="514209" w="1158660">
                  <a:moveTo>
                    <a:pt x="60527" y="0"/>
                  </a:moveTo>
                  <a:lnTo>
                    <a:pt x="1098133" y="0"/>
                  </a:lnTo>
                  <a:cubicBezTo>
                    <a:pt x="1114186" y="0"/>
                    <a:pt x="1129581" y="6377"/>
                    <a:pt x="1140932" y="17728"/>
                  </a:cubicBezTo>
                  <a:cubicBezTo>
                    <a:pt x="1152283" y="29079"/>
                    <a:pt x="1158660" y="44474"/>
                    <a:pt x="1158660" y="60527"/>
                  </a:cubicBezTo>
                  <a:lnTo>
                    <a:pt x="1158660" y="453682"/>
                  </a:lnTo>
                  <a:cubicBezTo>
                    <a:pt x="1158660" y="469735"/>
                    <a:pt x="1152283" y="485130"/>
                    <a:pt x="1140932" y="496481"/>
                  </a:cubicBezTo>
                  <a:cubicBezTo>
                    <a:pt x="1129581" y="507832"/>
                    <a:pt x="1114186" y="514209"/>
                    <a:pt x="1098133" y="514209"/>
                  </a:cubicBezTo>
                  <a:lnTo>
                    <a:pt x="60527" y="514209"/>
                  </a:lnTo>
                  <a:cubicBezTo>
                    <a:pt x="44474" y="514209"/>
                    <a:pt x="29079" y="507832"/>
                    <a:pt x="17728" y="496481"/>
                  </a:cubicBezTo>
                  <a:cubicBezTo>
                    <a:pt x="6377" y="485130"/>
                    <a:pt x="0" y="469735"/>
                    <a:pt x="0" y="453682"/>
                  </a:cubicBezTo>
                  <a:lnTo>
                    <a:pt x="0" y="60527"/>
                  </a:lnTo>
                  <a:cubicBezTo>
                    <a:pt x="0" y="44474"/>
                    <a:pt x="6377" y="29079"/>
                    <a:pt x="17728" y="17728"/>
                  </a:cubicBezTo>
                  <a:cubicBezTo>
                    <a:pt x="29079" y="6377"/>
                    <a:pt x="44474" y="0"/>
                    <a:pt x="60527" y="0"/>
                  </a:cubicBezTo>
                  <a:close/>
                </a:path>
              </a:pathLst>
            </a:custGeom>
            <a:solidFill>
              <a:srgbClr val="F8DA6F"/>
            </a:solidFill>
            <a:ln w="38100" cap="sq">
              <a:solidFill>
                <a:srgbClr val="074785"/>
              </a:solidFill>
              <a:prstDash val="solid"/>
              <a:miter/>
            </a:ln>
          </p:spPr>
        </p:sp>
        <p:sp>
          <p:nvSpPr>
            <p:cNvPr name="TextBox 43" id="43"/>
            <p:cNvSpPr txBox="true"/>
            <p:nvPr/>
          </p:nvSpPr>
          <p:spPr>
            <a:xfrm>
              <a:off x="0" y="-47625"/>
              <a:ext cx="1158660" cy="561834"/>
            </a:xfrm>
            <a:prstGeom prst="rect">
              <a:avLst/>
            </a:prstGeom>
          </p:spPr>
          <p:txBody>
            <a:bodyPr anchor="ctr" rtlCol="false" tIns="50800" lIns="50800" bIns="50800" rIns="50800"/>
            <a:lstStyle/>
            <a:p>
              <a:pPr algn="ctr">
                <a:lnSpc>
                  <a:spcPts val="3214"/>
                </a:lnSpc>
              </a:pPr>
            </a:p>
          </p:txBody>
        </p:sp>
      </p:grpSp>
      <p:sp>
        <p:nvSpPr>
          <p:cNvPr name="TextBox 44" id="44"/>
          <p:cNvSpPr txBox="true"/>
          <p:nvPr/>
        </p:nvSpPr>
        <p:spPr>
          <a:xfrm rot="0">
            <a:off x="4709592" y="3547313"/>
            <a:ext cx="1768786" cy="328259"/>
          </a:xfrm>
          <a:prstGeom prst="rect">
            <a:avLst/>
          </a:prstGeom>
        </p:spPr>
        <p:txBody>
          <a:bodyPr anchor="t" rtlCol="false" tIns="0" lIns="0" bIns="0" rIns="0">
            <a:spAutoFit/>
          </a:bodyPr>
          <a:lstStyle/>
          <a:p>
            <a:pPr algn="ctr">
              <a:lnSpc>
                <a:spcPts val="2616"/>
              </a:lnSpc>
            </a:pPr>
            <a:r>
              <a:rPr lang="en-US" b="true" sz="2110" spc="101">
                <a:solidFill>
                  <a:srgbClr val="074785"/>
                </a:solidFill>
                <a:latin typeface="Open Sans Bold"/>
                <a:ea typeface="Open Sans Bold"/>
                <a:cs typeface="Open Sans Bold"/>
                <a:sym typeface="Open Sans Bold"/>
              </a:rPr>
              <a:t>Backend</a:t>
            </a:r>
          </a:p>
        </p:txBody>
      </p:sp>
      <p:grpSp>
        <p:nvGrpSpPr>
          <p:cNvPr name="Group 45" id="45"/>
          <p:cNvGrpSpPr/>
          <p:nvPr/>
        </p:nvGrpSpPr>
        <p:grpSpPr>
          <a:xfrm rot="0">
            <a:off x="11000718" y="3262082"/>
            <a:ext cx="1896367" cy="908245"/>
            <a:chOff x="0" y="0"/>
            <a:chExt cx="1073640" cy="514209"/>
          </a:xfrm>
        </p:grpSpPr>
        <p:sp>
          <p:nvSpPr>
            <p:cNvPr name="Freeform 46" id="46"/>
            <p:cNvSpPr/>
            <p:nvPr/>
          </p:nvSpPr>
          <p:spPr>
            <a:xfrm flipH="false" flipV="false" rot="0">
              <a:off x="0" y="0"/>
              <a:ext cx="1073640" cy="514209"/>
            </a:xfrm>
            <a:custGeom>
              <a:avLst/>
              <a:gdLst/>
              <a:ahLst/>
              <a:cxnLst/>
              <a:rect r="r" b="b" t="t" l="l"/>
              <a:pathLst>
                <a:path h="514209" w="1073640">
                  <a:moveTo>
                    <a:pt x="65320" y="0"/>
                  </a:moveTo>
                  <a:lnTo>
                    <a:pt x="1008320" y="0"/>
                  </a:lnTo>
                  <a:cubicBezTo>
                    <a:pt x="1025644" y="0"/>
                    <a:pt x="1042259" y="6882"/>
                    <a:pt x="1054509" y="19132"/>
                  </a:cubicBezTo>
                  <a:cubicBezTo>
                    <a:pt x="1066758" y="31382"/>
                    <a:pt x="1073640" y="47996"/>
                    <a:pt x="1073640" y="65320"/>
                  </a:cubicBezTo>
                  <a:lnTo>
                    <a:pt x="1073640" y="448889"/>
                  </a:lnTo>
                  <a:cubicBezTo>
                    <a:pt x="1073640" y="484964"/>
                    <a:pt x="1044396" y="514209"/>
                    <a:pt x="1008320" y="514209"/>
                  </a:cubicBezTo>
                  <a:lnTo>
                    <a:pt x="65320" y="514209"/>
                  </a:lnTo>
                  <a:cubicBezTo>
                    <a:pt x="47996" y="514209"/>
                    <a:pt x="31382" y="507327"/>
                    <a:pt x="19132" y="495077"/>
                  </a:cubicBezTo>
                  <a:cubicBezTo>
                    <a:pt x="6882" y="482827"/>
                    <a:pt x="0" y="466213"/>
                    <a:pt x="0" y="448889"/>
                  </a:cubicBezTo>
                  <a:lnTo>
                    <a:pt x="0" y="65320"/>
                  </a:lnTo>
                  <a:cubicBezTo>
                    <a:pt x="0" y="47996"/>
                    <a:pt x="6882" y="31382"/>
                    <a:pt x="19132" y="19132"/>
                  </a:cubicBezTo>
                  <a:cubicBezTo>
                    <a:pt x="31382" y="6882"/>
                    <a:pt x="47996" y="0"/>
                    <a:pt x="65320" y="0"/>
                  </a:cubicBezTo>
                  <a:close/>
                </a:path>
              </a:pathLst>
            </a:custGeom>
            <a:solidFill>
              <a:srgbClr val="C7DE6C"/>
            </a:solidFill>
            <a:ln w="38100" cap="sq">
              <a:solidFill>
                <a:srgbClr val="074785"/>
              </a:solidFill>
              <a:prstDash val="solid"/>
              <a:miter/>
            </a:ln>
          </p:spPr>
        </p:sp>
        <p:sp>
          <p:nvSpPr>
            <p:cNvPr name="TextBox 47" id="47"/>
            <p:cNvSpPr txBox="true"/>
            <p:nvPr/>
          </p:nvSpPr>
          <p:spPr>
            <a:xfrm>
              <a:off x="0" y="-47625"/>
              <a:ext cx="1073640" cy="561834"/>
            </a:xfrm>
            <a:prstGeom prst="rect">
              <a:avLst/>
            </a:prstGeom>
          </p:spPr>
          <p:txBody>
            <a:bodyPr anchor="ctr" rtlCol="false" tIns="50800" lIns="50800" bIns="50800" rIns="50800"/>
            <a:lstStyle/>
            <a:p>
              <a:pPr algn="ctr">
                <a:lnSpc>
                  <a:spcPts val="3214"/>
                </a:lnSpc>
              </a:pPr>
            </a:p>
          </p:txBody>
        </p:sp>
      </p:grpSp>
      <p:sp>
        <p:nvSpPr>
          <p:cNvPr name="TextBox 48" id="48"/>
          <p:cNvSpPr txBox="true"/>
          <p:nvPr/>
        </p:nvSpPr>
        <p:spPr>
          <a:xfrm rot="0">
            <a:off x="11154610" y="3531093"/>
            <a:ext cx="1588582" cy="322899"/>
          </a:xfrm>
          <a:prstGeom prst="rect">
            <a:avLst/>
          </a:prstGeom>
        </p:spPr>
        <p:txBody>
          <a:bodyPr anchor="t" rtlCol="false" tIns="0" lIns="0" bIns="0" rIns="0">
            <a:spAutoFit/>
          </a:bodyPr>
          <a:lstStyle/>
          <a:p>
            <a:pPr algn="ctr">
              <a:lnSpc>
                <a:spcPts val="2658"/>
              </a:lnSpc>
            </a:pPr>
            <a:r>
              <a:rPr lang="en-US" b="true" sz="2110" spc="101">
                <a:solidFill>
                  <a:srgbClr val="074785"/>
                </a:solidFill>
                <a:latin typeface="Open Sans Bold"/>
                <a:ea typeface="Open Sans Bold"/>
                <a:cs typeface="Open Sans Bold"/>
                <a:sym typeface="Open Sans Bold"/>
              </a:rPr>
              <a:t>Frontend</a:t>
            </a:r>
          </a:p>
        </p:txBody>
      </p:sp>
      <p:sp>
        <p:nvSpPr>
          <p:cNvPr name="Freeform 49" id="49"/>
          <p:cNvSpPr/>
          <p:nvPr/>
        </p:nvSpPr>
        <p:spPr>
          <a:xfrm flipH="false" flipV="false" rot="0">
            <a:off x="15918199" y="1553985"/>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0" id="50"/>
          <p:cNvSpPr/>
          <p:nvPr/>
        </p:nvSpPr>
        <p:spPr>
          <a:xfrm flipH="false" flipV="false" rot="0">
            <a:off x="4182407" y="8917122"/>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1" id="51"/>
          <p:cNvSpPr/>
          <p:nvPr/>
        </p:nvSpPr>
        <p:spPr>
          <a:xfrm flipH="false" flipV="false" rot="0">
            <a:off x="0" y="7702292"/>
            <a:ext cx="2983790" cy="2584708"/>
          </a:xfrm>
          <a:custGeom>
            <a:avLst/>
            <a:gdLst/>
            <a:ahLst/>
            <a:cxnLst/>
            <a:rect r="r" b="b" t="t" l="l"/>
            <a:pathLst>
              <a:path h="2584708" w="2983790">
                <a:moveTo>
                  <a:pt x="0" y="0"/>
                </a:moveTo>
                <a:lnTo>
                  <a:pt x="2983790" y="0"/>
                </a:lnTo>
                <a:lnTo>
                  <a:pt x="2983790" y="2584708"/>
                </a:lnTo>
                <a:lnTo>
                  <a:pt x="0" y="25847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grpSp>
        <p:nvGrpSpPr>
          <p:cNvPr name="Group 2" id="2"/>
          <p:cNvGrpSpPr/>
          <p:nvPr/>
        </p:nvGrpSpPr>
        <p:grpSpPr>
          <a:xfrm rot="0">
            <a:off x="314094" y="1618825"/>
            <a:ext cx="5489920" cy="7200900"/>
            <a:chOff x="0" y="0"/>
            <a:chExt cx="1445905" cy="1896533"/>
          </a:xfrm>
        </p:grpSpPr>
        <p:sp>
          <p:nvSpPr>
            <p:cNvPr name="Freeform 3" id="3"/>
            <p:cNvSpPr/>
            <p:nvPr/>
          </p:nvSpPr>
          <p:spPr>
            <a:xfrm flipH="false" flipV="false" rot="0">
              <a:off x="0" y="0"/>
              <a:ext cx="1445905" cy="1896533"/>
            </a:xfrm>
            <a:custGeom>
              <a:avLst/>
              <a:gdLst/>
              <a:ahLst/>
              <a:cxnLst/>
              <a:rect r="r" b="b" t="t" l="l"/>
              <a:pathLst>
                <a:path h="1896533" w="1445905">
                  <a:moveTo>
                    <a:pt x="31025" y="0"/>
                  </a:moveTo>
                  <a:lnTo>
                    <a:pt x="1414880" y="0"/>
                  </a:lnTo>
                  <a:cubicBezTo>
                    <a:pt x="1423109" y="0"/>
                    <a:pt x="1431000" y="3269"/>
                    <a:pt x="1436818" y="9087"/>
                  </a:cubicBezTo>
                  <a:cubicBezTo>
                    <a:pt x="1442636" y="14905"/>
                    <a:pt x="1445905" y="22796"/>
                    <a:pt x="1445905" y="31025"/>
                  </a:cubicBezTo>
                  <a:lnTo>
                    <a:pt x="1445905" y="1865509"/>
                  </a:lnTo>
                  <a:cubicBezTo>
                    <a:pt x="1445905" y="1873737"/>
                    <a:pt x="1442636" y="1881628"/>
                    <a:pt x="1436818" y="1887446"/>
                  </a:cubicBezTo>
                  <a:cubicBezTo>
                    <a:pt x="1431000" y="1893265"/>
                    <a:pt x="1423109" y="1896533"/>
                    <a:pt x="1414880" y="1896533"/>
                  </a:cubicBezTo>
                  <a:lnTo>
                    <a:pt x="31025" y="1896533"/>
                  </a:lnTo>
                  <a:cubicBezTo>
                    <a:pt x="22796" y="1896533"/>
                    <a:pt x="14905" y="1893265"/>
                    <a:pt x="9087" y="1887446"/>
                  </a:cubicBezTo>
                  <a:cubicBezTo>
                    <a:pt x="3269" y="1881628"/>
                    <a:pt x="0" y="1873737"/>
                    <a:pt x="0" y="1865509"/>
                  </a:cubicBezTo>
                  <a:lnTo>
                    <a:pt x="0" y="31025"/>
                  </a:lnTo>
                  <a:cubicBezTo>
                    <a:pt x="0" y="22796"/>
                    <a:pt x="3269" y="14905"/>
                    <a:pt x="9087" y="9087"/>
                  </a:cubicBezTo>
                  <a:cubicBezTo>
                    <a:pt x="14905" y="3269"/>
                    <a:pt x="22796" y="0"/>
                    <a:pt x="31025" y="0"/>
                  </a:cubicBezTo>
                  <a:close/>
                </a:path>
              </a:pathLst>
            </a:custGeom>
            <a:solidFill>
              <a:srgbClr val="F9FCFF"/>
            </a:solidFill>
            <a:ln w="66675" cap="rnd">
              <a:solidFill>
                <a:srgbClr val="074785"/>
              </a:solidFill>
              <a:prstDash val="solid"/>
              <a:round/>
            </a:ln>
          </p:spPr>
        </p:sp>
        <p:sp>
          <p:nvSpPr>
            <p:cNvPr name="TextBox 4" id="4"/>
            <p:cNvSpPr txBox="true"/>
            <p:nvPr/>
          </p:nvSpPr>
          <p:spPr>
            <a:xfrm>
              <a:off x="0" y="-47625"/>
              <a:ext cx="1445905" cy="1944158"/>
            </a:xfrm>
            <a:prstGeom prst="rect">
              <a:avLst/>
            </a:prstGeom>
          </p:spPr>
          <p:txBody>
            <a:bodyPr anchor="ctr" rtlCol="false" tIns="50800" lIns="50800" bIns="50800" rIns="50800"/>
            <a:lstStyle/>
            <a:p>
              <a:pPr algn="ctr">
                <a:lnSpc>
                  <a:spcPts val="3214"/>
                </a:lnSpc>
              </a:pPr>
            </a:p>
          </p:txBody>
        </p:sp>
      </p:grpSp>
      <p:sp>
        <p:nvSpPr>
          <p:cNvPr name="TextBox 5" id="5"/>
          <p:cNvSpPr txBox="true"/>
          <p:nvPr/>
        </p:nvSpPr>
        <p:spPr>
          <a:xfrm rot="0">
            <a:off x="678512" y="2869629"/>
            <a:ext cx="4743995" cy="4815459"/>
          </a:xfrm>
          <a:prstGeom prst="rect">
            <a:avLst/>
          </a:prstGeom>
        </p:spPr>
        <p:txBody>
          <a:bodyPr anchor="t" rtlCol="false" tIns="0" lIns="0" bIns="0" rIns="0">
            <a:spAutoFit/>
          </a:bodyPr>
          <a:lstStyle/>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Principalmente enfocado a juegos independientes y novelas visuales.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Traducción automática en tiempo real.</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Compatibilidad con múltiples juegos.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Compatibilidad con diferentes equipos al ser CPU dependiente.</a:t>
            </a:r>
          </a:p>
        </p:txBody>
      </p:sp>
      <p:sp>
        <p:nvSpPr>
          <p:cNvPr name="Freeform 6" id="6"/>
          <p:cNvSpPr/>
          <p:nvPr/>
        </p:nvSpPr>
        <p:spPr>
          <a:xfrm flipH="true" flipV="false" rot="0">
            <a:off x="-94024" y="-99699"/>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7" id="7"/>
          <p:cNvSpPr/>
          <p:nvPr/>
        </p:nvSpPr>
        <p:spPr>
          <a:xfrm flipH="false" flipV="false" rot="0">
            <a:off x="17351047" y="162014"/>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8" id="8"/>
          <p:cNvGrpSpPr/>
          <p:nvPr/>
        </p:nvGrpSpPr>
        <p:grpSpPr>
          <a:xfrm rot="0">
            <a:off x="314094" y="1467275"/>
            <a:ext cx="5489920" cy="1202040"/>
            <a:chOff x="0" y="0"/>
            <a:chExt cx="1445905" cy="316587"/>
          </a:xfrm>
        </p:grpSpPr>
        <p:sp>
          <p:nvSpPr>
            <p:cNvPr name="Freeform 9" id="9"/>
            <p:cNvSpPr/>
            <p:nvPr/>
          </p:nvSpPr>
          <p:spPr>
            <a:xfrm flipH="false" flipV="false" rot="0">
              <a:off x="0" y="0"/>
              <a:ext cx="1445905" cy="316587"/>
            </a:xfrm>
            <a:custGeom>
              <a:avLst/>
              <a:gdLst/>
              <a:ahLst/>
              <a:cxnLst/>
              <a:rect r="r" b="b" t="t" l="l"/>
              <a:pathLst>
                <a:path h="316587" w="1445905">
                  <a:moveTo>
                    <a:pt x="31025" y="0"/>
                  </a:moveTo>
                  <a:lnTo>
                    <a:pt x="1414880" y="0"/>
                  </a:lnTo>
                  <a:cubicBezTo>
                    <a:pt x="1423109" y="0"/>
                    <a:pt x="1431000" y="3269"/>
                    <a:pt x="1436818" y="9087"/>
                  </a:cubicBezTo>
                  <a:cubicBezTo>
                    <a:pt x="1442636" y="14905"/>
                    <a:pt x="1445905" y="22796"/>
                    <a:pt x="1445905" y="31025"/>
                  </a:cubicBezTo>
                  <a:lnTo>
                    <a:pt x="1445905" y="285562"/>
                  </a:lnTo>
                  <a:cubicBezTo>
                    <a:pt x="1445905" y="293790"/>
                    <a:pt x="1442636" y="301681"/>
                    <a:pt x="1436818" y="307500"/>
                  </a:cubicBezTo>
                  <a:cubicBezTo>
                    <a:pt x="1431000" y="313318"/>
                    <a:pt x="1423109" y="316587"/>
                    <a:pt x="1414880" y="316587"/>
                  </a:cubicBezTo>
                  <a:lnTo>
                    <a:pt x="31025" y="316587"/>
                  </a:lnTo>
                  <a:cubicBezTo>
                    <a:pt x="22796" y="316587"/>
                    <a:pt x="14905" y="313318"/>
                    <a:pt x="9087" y="307500"/>
                  </a:cubicBezTo>
                  <a:cubicBezTo>
                    <a:pt x="3269" y="301681"/>
                    <a:pt x="0" y="293790"/>
                    <a:pt x="0" y="285562"/>
                  </a:cubicBezTo>
                  <a:lnTo>
                    <a:pt x="0" y="31025"/>
                  </a:lnTo>
                  <a:cubicBezTo>
                    <a:pt x="0" y="22796"/>
                    <a:pt x="3269" y="14905"/>
                    <a:pt x="9087" y="9087"/>
                  </a:cubicBezTo>
                  <a:cubicBezTo>
                    <a:pt x="14905" y="3269"/>
                    <a:pt x="22796" y="0"/>
                    <a:pt x="31025" y="0"/>
                  </a:cubicBezTo>
                  <a:close/>
                </a:path>
              </a:pathLst>
            </a:custGeom>
            <a:solidFill>
              <a:srgbClr val="F8DA6F"/>
            </a:solidFill>
            <a:ln w="66675" cap="rnd">
              <a:solidFill>
                <a:srgbClr val="074785"/>
              </a:solidFill>
              <a:prstDash val="solid"/>
              <a:round/>
            </a:ln>
          </p:spPr>
        </p:sp>
        <p:sp>
          <p:nvSpPr>
            <p:cNvPr name="TextBox 10" id="10"/>
            <p:cNvSpPr txBox="true"/>
            <p:nvPr/>
          </p:nvSpPr>
          <p:spPr>
            <a:xfrm>
              <a:off x="0" y="-47625"/>
              <a:ext cx="1445905" cy="364212"/>
            </a:xfrm>
            <a:prstGeom prst="rect">
              <a:avLst/>
            </a:prstGeom>
          </p:spPr>
          <p:txBody>
            <a:bodyPr anchor="ctr" rtlCol="false" tIns="50800" lIns="50800" bIns="50800" rIns="50800"/>
            <a:lstStyle/>
            <a:p>
              <a:pPr algn="ctr">
                <a:lnSpc>
                  <a:spcPts val="3214"/>
                </a:lnSpc>
              </a:pPr>
            </a:p>
          </p:txBody>
        </p:sp>
      </p:grpSp>
      <p:sp>
        <p:nvSpPr>
          <p:cNvPr name="TextBox 11" id="11"/>
          <p:cNvSpPr txBox="true"/>
          <p:nvPr/>
        </p:nvSpPr>
        <p:spPr>
          <a:xfrm rot="0">
            <a:off x="877827" y="1755875"/>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Alcances</a:t>
            </a:r>
          </a:p>
        </p:txBody>
      </p:sp>
      <p:grpSp>
        <p:nvGrpSpPr>
          <p:cNvPr name="Group 12" id="12"/>
          <p:cNvGrpSpPr/>
          <p:nvPr/>
        </p:nvGrpSpPr>
        <p:grpSpPr>
          <a:xfrm rot="0">
            <a:off x="6422632" y="1618825"/>
            <a:ext cx="5489920" cy="7200900"/>
            <a:chOff x="0" y="0"/>
            <a:chExt cx="1445905" cy="1896533"/>
          </a:xfrm>
        </p:grpSpPr>
        <p:sp>
          <p:nvSpPr>
            <p:cNvPr name="Freeform 13" id="13"/>
            <p:cNvSpPr/>
            <p:nvPr/>
          </p:nvSpPr>
          <p:spPr>
            <a:xfrm flipH="false" flipV="false" rot="0">
              <a:off x="0" y="0"/>
              <a:ext cx="1445905" cy="1896533"/>
            </a:xfrm>
            <a:custGeom>
              <a:avLst/>
              <a:gdLst/>
              <a:ahLst/>
              <a:cxnLst/>
              <a:rect r="r" b="b" t="t" l="l"/>
              <a:pathLst>
                <a:path h="1896533" w="1445905">
                  <a:moveTo>
                    <a:pt x="31025" y="0"/>
                  </a:moveTo>
                  <a:lnTo>
                    <a:pt x="1414880" y="0"/>
                  </a:lnTo>
                  <a:cubicBezTo>
                    <a:pt x="1423109" y="0"/>
                    <a:pt x="1431000" y="3269"/>
                    <a:pt x="1436818" y="9087"/>
                  </a:cubicBezTo>
                  <a:cubicBezTo>
                    <a:pt x="1442636" y="14905"/>
                    <a:pt x="1445905" y="22796"/>
                    <a:pt x="1445905" y="31025"/>
                  </a:cubicBezTo>
                  <a:lnTo>
                    <a:pt x="1445905" y="1865509"/>
                  </a:lnTo>
                  <a:cubicBezTo>
                    <a:pt x="1445905" y="1873737"/>
                    <a:pt x="1442636" y="1881628"/>
                    <a:pt x="1436818" y="1887446"/>
                  </a:cubicBezTo>
                  <a:cubicBezTo>
                    <a:pt x="1431000" y="1893265"/>
                    <a:pt x="1423109" y="1896533"/>
                    <a:pt x="1414880" y="1896533"/>
                  </a:cubicBezTo>
                  <a:lnTo>
                    <a:pt x="31025" y="1896533"/>
                  </a:lnTo>
                  <a:cubicBezTo>
                    <a:pt x="22796" y="1896533"/>
                    <a:pt x="14905" y="1893265"/>
                    <a:pt x="9087" y="1887446"/>
                  </a:cubicBezTo>
                  <a:cubicBezTo>
                    <a:pt x="3269" y="1881628"/>
                    <a:pt x="0" y="1873737"/>
                    <a:pt x="0" y="1865509"/>
                  </a:cubicBezTo>
                  <a:lnTo>
                    <a:pt x="0" y="31025"/>
                  </a:lnTo>
                  <a:cubicBezTo>
                    <a:pt x="0" y="22796"/>
                    <a:pt x="3269" y="14905"/>
                    <a:pt x="9087" y="9087"/>
                  </a:cubicBezTo>
                  <a:cubicBezTo>
                    <a:pt x="14905" y="3269"/>
                    <a:pt x="22796" y="0"/>
                    <a:pt x="31025" y="0"/>
                  </a:cubicBezTo>
                  <a:close/>
                </a:path>
              </a:pathLst>
            </a:custGeom>
            <a:solidFill>
              <a:srgbClr val="F9FCFF"/>
            </a:solidFill>
            <a:ln w="66675" cap="rnd">
              <a:solidFill>
                <a:srgbClr val="074785"/>
              </a:solidFill>
              <a:prstDash val="solid"/>
              <a:round/>
            </a:ln>
          </p:spPr>
        </p:sp>
        <p:sp>
          <p:nvSpPr>
            <p:cNvPr name="TextBox 14" id="14"/>
            <p:cNvSpPr txBox="true"/>
            <p:nvPr/>
          </p:nvSpPr>
          <p:spPr>
            <a:xfrm>
              <a:off x="0" y="-47625"/>
              <a:ext cx="1445905" cy="1944158"/>
            </a:xfrm>
            <a:prstGeom prst="rect">
              <a:avLst/>
            </a:prstGeom>
          </p:spPr>
          <p:txBody>
            <a:bodyPr anchor="ctr" rtlCol="false" tIns="50800" lIns="50800" bIns="50800" rIns="50800"/>
            <a:lstStyle/>
            <a:p>
              <a:pPr algn="ctr">
                <a:lnSpc>
                  <a:spcPts val="3214"/>
                </a:lnSpc>
              </a:pPr>
            </a:p>
          </p:txBody>
        </p:sp>
      </p:grpSp>
      <p:sp>
        <p:nvSpPr>
          <p:cNvPr name="TextBox 15" id="15"/>
          <p:cNvSpPr txBox="true"/>
          <p:nvPr/>
        </p:nvSpPr>
        <p:spPr>
          <a:xfrm rot="0">
            <a:off x="6795849" y="2869629"/>
            <a:ext cx="4743995" cy="3843909"/>
          </a:xfrm>
          <a:prstGeom prst="rect">
            <a:avLst/>
          </a:prstGeom>
        </p:spPr>
        <p:txBody>
          <a:bodyPr anchor="t" rtlCol="false" tIns="0" lIns="0" bIns="0" rIns="0">
            <a:spAutoFit/>
          </a:bodyPr>
          <a:lstStyle/>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Precisión dependiente de la imagen capturada.</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Rendimiento depende de las características del PC.</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Conflicto con sistemas anti-trampa.</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Tamaño del software en GB.</a:t>
            </a:r>
          </a:p>
        </p:txBody>
      </p:sp>
      <p:grpSp>
        <p:nvGrpSpPr>
          <p:cNvPr name="Group 16" id="16"/>
          <p:cNvGrpSpPr/>
          <p:nvPr/>
        </p:nvGrpSpPr>
        <p:grpSpPr>
          <a:xfrm rot="0">
            <a:off x="6422632" y="1467275"/>
            <a:ext cx="5489920" cy="1202040"/>
            <a:chOff x="0" y="0"/>
            <a:chExt cx="1445905" cy="316587"/>
          </a:xfrm>
        </p:grpSpPr>
        <p:sp>
          <p:nvSpPr>
            <p:cNvPr name="Freeform 17" id="17"/>
            <p:cNvSpPr/>
            <p:nvPr/>
          </p:nvSpPr>
          <p:spPr>
            <a:xfrm flipH="false" flipV="false" rot="0">
              <a:off x="0" y="0"/>
              <a:ext cx="1445905" cy="316587"/>
            </a:xfrm>
            <a:custGeom>
              <a:avLst/>
              <a:gdLst/>
              <a:ahLst/>
              <a:cxnLst/>
              <a:rect r="r" b="b" t="t" l="l"/>
              <a:pathLst>
                <a:path h="316587" w="1445905">
                  <a:moveTo>
                    <a:pt x="31025" y="0"/>
                  </a:moveTo>
                  <a:lnTo>
                    <a:pt x="1414880" y="0"/>
                  </a:lnTo>
                  <a:cubicBezTo>
                    <a:pt x="1423109" y="0"/>
                    <a:pt x="1431000" y="3269"/>
                    <a:pt x="1436818" y="9087"/>
                  </a:cubicBezTo>
                  <a:cubicBezTo>
                    <a:pt x="1442636" y="14905"/>
                    <a:pt x="1445905" y="22796"/>
                    <a:pt x="1445905" y="31025"/>
                  </a:cubicBezTo>
                  <a:lnTo>
                    <a:pt x="1445905" y="285562"/>
                  </a:lnTo>
                  <a:cubicBezTo>
                    <a:pt x="1445905" y="293790"/>
                    <a:pt x="1442636" y="301681"/>
                    <a:pt x="1436818" y="307500"/>
                  </a:cubicBezTo>
                  <a:cubicBezTo>
                    <a:pt x="1431000" y="313318"/>
                    <a:pt x="1423109" y="316587"/>
                    <a:pt x="1414880" y="316587"/>
                  </a:cubicBezTo>
                  <a:lnTo>
                    <a:pt x="31025" y="316587"/>
                  </a:lnTo>
                  <a:cubicBezTo>
                    <a:pt x="22796" y="316587"/>
                    <a:pt x="14905" y="313318"/>
                    <a:pt x="9087" y="307500"/>
                  </a:cubicBezTo>
                  <a:cubicBezTo>
                    <a:pt x="3269" y="301681"/>
                    <a:pt x="0" y="293790"/>
                    <a:pt x="0" y="285562"/>
                  </a:cubicBezTo>
                  <a:lnTo>
                    <a:pt x="0" y="31025"/>
                  </a:lnTo>
                  <a:cubicBezTo>
                    <a:pt x="0" y="22796"/>
                    <a:pt x="3269" y="14905"/>
                    <a:pt x="9087" y="9087"/>
                  </a:cubicBezTo>
                  <a:cubicBezTo>
                    <a:pt x="14905" y="3269"/>
                    <a:pt x="22796" y="0"/>
                    <a:pt x="31025" y="0"/>
                  </a:cubicBezTo>
                  <a:close/>
                </a:path>
              </a:pathLst>
            </a:custGeom>
            <a:solidFill>
              <a:srgbClr val="F8DA6F"/>
            </a:solidFill>
            <a:ln w="66675" cap="rnd">
              <a:solidFill>
                <a:srgbClr val="074785"/>
              </a:solidFill>
              <a:prstDash val="solid"/>
              <a:round/>
            </a:ln>
          </p:spPr>
        </p:sp>
        <p:sp>
          <p:nvSpPr>
            <p:cNvPr name="TextBox 18" id="18"/>
            <p:cNvSpPr txBox="true"/>
            <p:nvPr/>
          </p:nvSpPr>
          <p:spPr>
            <a:xfrm>
              <a:off x="0" y="-47625"/>
              <a:ext cx="1445905" cy="364212"/>
            </a:xfrm>
            <a:prstGeom prst="rect">
              <a:avLst/>
            </a:prstGeom>
          </p:spPr>
          <p:txBody>
            <a:bodyPr anchor="ctr" rtlCol="false" tIns="50800" lIns="50800" bIns="50800" rIns="50800"/>
            <a:lstStyle/>
            <a:p>
              <a:pPr algn="ctr">
                <a:lnSpc>
                  <a:spcPts val="3214"/>
                </a:lnSpc>
              </a:pPr>
            </a:p>
          </p:txBody>
        </p:sp>
      </p:grpSp>
      <p:sp>
        <p:nvSpPr>
          <p:cNvPr name="TextBox 19" id="19"/>
          <p:cNvSpPr txBox="true"/>
          <p:nvPr/>
        </p:nvSpPr>
        <p:spPr>
          <a:xfrm rot="0">
            <a:off x="6986364" y="1755875"/>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Limitaciones</a:t>
            </a:r>
          </a:p>
        </p:txBody>
      </p:sp>
      <p:grpSp>
        <p:nvGrpSpPr>
          <p:cNvPr name="Group 20" id="20"/>
          <p:cNvGrpSpPr/>
          <p:nvPr/>
        </p:nvGrpSpPr>
        <p:grpSpPr>
          <a:xfrm rot="0">
            <a:off x="12531677" y="1618825"/>
            <a:ext cx="5489920" cy="7200900"/>
            <a:chOff x="0" y="0"/>
            <a:chExt cx="1445905" cy="1896533"/>
          </a:xfrm>
        </p:grpSpPr>
        <p:sp>
          <p:nvSpPr>
            <p:cNvPr name="Freeform 21" id="21"/>
            <p:cNvSpPr/>
            <p:nvPr/>
          </p:nvSpPr>
          <p:spPr>
            <a:xfrm flipH="false" flipV="false" rot="0">
              <a:off x="0" y="0"/>
              <a:ext cx="1445905" cy="1896533"/>
            </a:xfrm>
            <a:custGeom>
              <a:avLst/>
              <a:gdLst/>
              <a:ahLst/>
              <a:cxnLst/>
              <a:rect r="r" b="b" t="t" l="l"/>
              <a:pathLst>
                <a:path h="1896533" w="1445905">
                  <a:moveTo>
                    <a:pt x="31025" y="0"/>
                  </a:moveTo>
                  <a:lnTo>
                    <a:pt x="1414880" y="0"/>
                  </a:lnTo>
                  <a:cubicBezTo>
                    <a:pt x="1423109" y="0"/>
                    <a:pt x="1431000" y="3269"/>
                    <a:pt x="1436818" y="9087"/>
                  </a:cubicBezTo>
                  <a:cubicBezTo>
                    <a:pt x="1442636" y="14905"/>
                    <a:pt x="1445905" y="22796"/>
                    <a:pt x="1445905" y="31025"/>
                  </a:cubicBezTo>
                  <a:lnTo>
                    <a:pt x="1445905" y="1865509"/>
                  </a:lnTo>
                  <a:cubicBezTo>
                    <a:pt x="1445905" y="1873737"/>
                    <a:pt x="1442636" y="1881628"/>
                    <a:pt x="1436818" y="1887446"/>
                  </a:cubicBezTo>
                  <a:cubicBezTo>
                    <a:pt x="1431000" y="1893265"/>
                    <a:pt x="1423109" y="1896533"/>
                    <a:pt x="1414880" y="1896533"/>
                  </a:cubicBezTo>
                  <a:lnTo>
                    <a:pt x="31025" y="1896533"/>
                  </a:lnTo>
                  <a:cubicBezTo>
                    <a:pt x="22796" y="1896533"/>
                    <a:pt x="14905" y="1893265"/>
                    <a:pt x="9087" y="1887446"/>
                  </a:cubicBezTo>
                  <a:cubicBezTo>
                    <a:pt x="3269" y="1881628"/>
                    <a:pt x="0" y="1873737"/>
                    <a:pt x="0" y="1865509"/>
                  </a:cubicBezTo>
                  <a:lnTo>
                    <a:pt x="0" y="31025"/>
                  </a:lnTo>
                  <a:cubicBezTo>
                    <a:pt x="0" y="22796"/>
                    <a:pt x="3269" y="14905"/>
                    <a:pt x="9087" y="9087"/>
                  </a:cubicBezTo>
                  <a:cubicBezTo>
                    <a:pt x="14905" y="3269"/>
                    <a:pt x="22796" y="0"/>
                    <a:pt x="31025" y="0"/>
                  </a:cubicBezTo>
                  <a:close/>
                </a:path>
              </a:pathLst>
            </a:custGeom>
            <a:solidFill>
              <a:srgbClr val="F9FCFF"/>
            </a:solidFill>
            <a:ln w="66675" cap="rnd">
              <a:solidFill>
                <a:srgbClr val="074785"/>
              </a:solidFill>
              <a:prstDash val="solid"/>
              <a:round/>
            </a:ln>
          </p:spPr>
        </p:sp>
        <p:sp>
          <p:nvSpPr>
            <p:cNvPr name="TextBox 22" id="22"/>
            <p:cNvSpPr txBox="true"/>
            <p:nvPr/>
          </p:nvSpPr>
          <p:spPr>
            <a:xfrm>
              <a:off x="0" y="-47625"/>
              <a:ext cx="1445905" cy="1944158"/>
            </a:xfrm>
            <a:prstGeom prst="rect">
              <a:avLst/>
            </a:prstGeom>
          </p:spPr>
          <p:txBody>
            <a:bodyPr anchor="ctr" rtlCol="false" tIns="50800" lIns="50800" bIns="50800" rIns="50800"/>
            <a:lstStyle/>
            <a:p>
              <a:pPr algn="ctr">
                <a:lnSpc>
                  <a:spcPts val="3214"/>
                </a:lnSpc>
              </a:pPr>
            </a:p>
          </p:txBody>
        </p:sp>
      </p:grpSp>
      <p:sp>
        <p:nvSpPr>
          <p:cNvPr name="TextBox 23" id="23"/>
          <p:cNvSpPr txBox="true"/>
          <p:nvPr/>
        </p:nvSpPr>
        <p:spPr>
          <a:xfrm rot="0">
            <a:off x="12912677" y="2869629"/>
            <a:ext cx="4743995" cy="5301234"/>
          </a:xfrm>
          <a:prstGeom prst="rect">
            <a:avLst/>
          </a:prstGeom>
        </p:spPr>
        <p:txBody>
          <a:bodyPr anchor="t" rtlCol="false" tIns="0" lIns="0" bIns="0" rIns="0">
            <a:spAutoFit/>
          </a:bodyPr>
          <a:lstStyle/>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Lograr balance entre latencia y precisión.</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Idiomas de alta complejidad como Chino o Japonés.</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Superposición adaptable y no invasiva.</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Fondos complejos que dificulten la extracción de texto.</a:t>
            </a:r>
          </a:p>
          <a:p>
            <a:pPr algn="l" marL="518160" indent="-259080" lvl="1">
              <a:lnSpc>
                <a:spcPts val="3888"/>
              </a:lnSpc>
              <a:buAutoNum type="arabicPeriod" startAt="1"/>
            </a:pPr>
            <a:r>
              <a:rPr lang="en-US" sz="2400" spc="115">
                <a:solidFill>
                  <a:srgbClr val="074785"/>
                </a:solidFill>
                <a:latin typeface="Open Sans"/>
                <a:ea typeface="Open Sans"/>
                <a:cs typeface="Open Sans"/>
                <a:sym typeface="Open Sans"/>
              </a:rPr>
              <a:t>Alucinaciones de IA.</a:t>
            </a:r>
          </a:p>
        </p:txBody>
      </p:sp>
      <p:grpSp>
        <p:nvGrpSpPr>
          <p:cNvPr name="Group 24" id="24"/>
          <p:cNvGrpSpPr/>
          <p:nvPr/>
        </p:nvGrpSpPr>
        <p:grpSpPr>
          <a:xfrm rot="0">
            <a:off x="12531677" y="1467275"/>
            <a:ext cx="5489920" cy="1202040"/>
            <a:chOff x="0" y="0"/>
            <a:chExt cx="1445905" cy="316587"/>
          </a:xfrm>
        </p:grpSpPr>
        <p:sp>
          <p:nvSpPr>
            <p:cNvPr name="Freeform 25" id="25"/>
            <p:cNvSpPr/>
            <p:nvPr/>
          </p:nvSpPr>
          <p:spPr>
            <a:xfrm flipH="false" flipV="false" rot="0">
              <a:off x="0" y="0"/>
              <a:ext cx="1445905" cy="316587"/>
            </a:xfrm>
            <a:custGeom>
              <a:avLst/>
              <a:gdLst/>
              <a:ahLst/>
              <a:cxnLst/>
              <a:rect r="r" b="b" t="t" l="l"/>
              <a:pathLst>
                <a:path h="316587" w="1445905">
                  <a:moveTo>
                    <a:pt x="31025" y="0"/>
                  </a:moveTo>
                  <a:lnTo>
                    <a:pt x="1414880" y="0"/>
                  </a:lnTo>
                  <a:cubicBezTo>
                    <a:pt x="1423109" y="0"/>
                    <a:pt x="1431000" y="3269"/>
                    <a:pt x="1436818" y="9087"/>
                  </a:cubicBezTo>
                  <a:cubicBezTo>
                    <a:pt x="1442636" y="14905"/>
                    <a:pt x="1445905" y="22796"/>
                    <a:pt x="1445905" y="31025"/>
                  </a:cubicBezTo>
                  <a:lnTo>
                    <a:pt x="1445905" y="285562"/>
                  </a:lnTo>
                  <a:cubicBezTo>
                    <a:pt x="1445905" y="293790"/>
                    <a:pt x="1442636" y="301681"/>
                    <a:pt x="1436818" y="307500"/>
                  </a:cubicBezTo>
                  <a:cubicBezTo>
                    <a:pt x="1431000" y="313318"/>
                    <a:pt x="1423109" y="316587"/>
                    <a:pt x="1414880" y="316587"/>
                  </a:cubicBezTo>
                  <a:lnTo>
                    <a:pt x="31025" y="316587"/>
                  </a:lnTo>
                  <a:cubicBezTo>
                    <a:pt x="22796" y="316587"/>
                    <a:pt x="14905" y="313318"/>
                    <a:pt x="9087" y="307500"/>
                  </a:cubicBezTo>
                  <a:cubicBezTo>
                    <a:pt x="3269" y="301681"/>
                    <a:pt x="0" y="293790"/>
                    <a:pt x="0" y="285562"/>
                  </a:cubicBezTo>
                  <a:lnTo>
                    <a:pt x="0" y="31025"/>
                  </a:lnTo>
                  <a:cubicBezTo>
                    <a:pt x="0" y="22796"/>
                    <a:pt x="3269" y="14905"/>
                    <a:pt x="9087" y="9087"/>
                  </a:cubicBezTo>
                  <a:cubicBezTo>
                    <a:pt x="14905" y="3269"/>
                    <a:pt x="22796" y="0"/>
                    <a:pt x="31025" y="0"/>
                  </a:cubicBezTo>
                  <a:close/>
                </a:path>
              </a:pathLst>
            </a:custGeom>
            <a:solidFill>
              <a:srgbClr val="F8DA6F"/>
            </a:solidFill>
            <a:ln w="66675" cap="rnd">
              <a:solidFill>
                <a:srgbClr val="074785"/>
              </a:solidFill>
              <a:prstDash val="solid"/>
              <a:round/>
            </a:ln>
          </p:spPr>
        </p:sp>
        <p:sp>
          <p:nvSpPr>
            <p:cNvPr name="TextBox 26" id="26"/>
            <p:cNvSpPr txBox="true"/>
            <p:nvPr/>
          </p:nvSpPr>
          <p:spPr>
            <a:xfrm>
              <a:off x="0" y="-47625"/>
              <a:ext cx="1445905" cy="364212"/>
            </a:xfrm>
            <a:prstGeom prst="rect">
              <a:avLst/>
            </a:prstGeom>
          </p:spPr>
          <p:txBody>
            <a:bodyPr anchor="ctr" rtlCol="false" tIns="50800" lIns="50800" bIns="50800" rIns="50800"/>
            <a:lstStyle/>
            <a:p>
              <a:pPr algn="ctr">
                <a:lnSpc>
                  <a:spcPts val="3214"/>
                </a:lnSpc>
              </a:pPr>
            </a:p>
          </p:txBody>
        </p:sp>
      </p:grpSp>
      <p:sp>
        <p:nvSpPr>
          <p:cNvPr name="TextBox 27" id="27"/>
          <p:cNvSpPr txBox="true"/>
          <p:nvPr/>
        </p:nvSpPr>
        <p:spPr>
          <a:xfrm rot="0">
            <a:off x="13095410" y="1755875"/>
            <a:ext cx="3030156" cy="653415"/>
          </a:xfrm>
          <a:prstGeom prst="rect">
            <a:avLst/>
          </a:prstGeom>
        </p:spPr>
        <p:txBody>
          <a:bodyPr anchor="t" rtlCol="false" tIns="0" lIns="0" bIns="0" rIns="0">
            <a:spAutoFit/>
          </a:bodyPr>
          <a:lstStyle/>
          <a:p>
            <a:pPr algn="l" marL="0" indent="0" lvl="0">
              <a:lnSpc>
                <a:spcPts val="4905"/>
              </a:lnSpc>
              <a:spcBef>
                <a:spcPct val="0"/>
              </a:spcBef>
            </a:pPr>
            <a:r>
              <a:rPr lang="en-US" sz="4500" spc="44">
                <a:solidFill>
                  <a:srgbClr val="074785"/>
                </a:solidFill>
                <a:latin typeface="Sugo Display"/>
                <a:ea typeface="Sugo Display"/>
                <a:cs typeface="Sugo Display"/>
                <a:sym typeface="Sugo Display"/>
              </a:rPr>
              <a:t>Desafíos</a:t>
            </a:r>
          </a:p>
        </p:txBody>
      </p:sp>
      <p:sp>
        <p:nvSpPr>
          <p:cNvPr name="Freeform 28" id="28"/>
          <p:cNvSpPr/>
          <p:nvPr/>
        </p:nvSpPr>
        <p:spPr>
          <a:xfrm flipH="true" flipV="false" rot="0">
            <a:off x="1978244" y="9420314"/>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29" id="29"/>
          <p:cNvSpPr/>
          <p:nvPr/>
        </p:nvSpPr>
        <p:spPr>
          <a:xfrm flipH="true" flipV="false" rot="0">
            <a:off x="12666467" y="9105475"/>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0E7FF"/>
        </a:solidFill>
      </p:bgPr>
    </p:bg>
    <p:spTree>
      <p:nvGrpSpPr>
        <p:cNvPr id="1" name=""/>
        <p:cNvGrpSpPr/>
        <p:nvPr/>
      </p:nvGrpSpPr>
      <p:grpSpPr>
        <a:xfrm>
          <a:off x="0" y="0"/>
          <a:ext cx="0" cy="0"/>
          <a:chOff x="0" y="0"/>
          <a:chExt cx="0" cy="0"/>
        </a:xfrm>
      </p:grpSpPr>
      <p:sp>
        <p:nvSpPr>
          <p:cNvPr name="Freeform 2" id="2"/>
          <p:cNvSpPr/>
          <p:nvPr/>
        </p:nvSpPr>
        <p:spPr>
          <a:xfrm flipH="false" flipV="false" rot="0">
            <a:off x="1860195" y="1028700"/>
            <a:ext cx="14567609" cy="8576680"/>
          </a:xfrm>
          <a:custGeom>
            <a:avLst/>
            <a:gdLst/>
            <a:ahLst/>
            <a:cxnLst/>
            <a:rect r="r" b="b" t="t" l="l"/>
            <a:pathLst>
              <a:path h="8576680" w="14567609">
                <a:moveTo>
                  <a:pt x="0" y="0"/>
                </a:moveTo>
                <a:lnTo>
                  <a:pt x="14567610" y="0"/>
                </a:lnTo>
                <a:lnTo>
                  <a:pt x="14567610" y="8576680"/>
                </a:lnTo>
                <a:lnTo>
                  <a:pt x="0" y="85766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5127972" y="1375780"/>
            <a:ext cx="8032056" cy="1594841"/>
            <a:chOff x="0" y="0"/>
            <a:chExt cx="3710314" cy="736718"/>
          </a:xfrm>
        </p:grpSpPr>
        <p:sp>
          <p:nvSpPr>
            <p:cNvPr name="Freeform 4" id="4"/>
            <p:cNvSpPr/>
            <p:nvPr/>
          </p:nvSpPr>
          <p:spPr>
            <a:xfrm flipH="false" flipV="false" rot="0">
              <a:off x="0" y="0"/>
              <a:ext cx="3710314" cy="736718"/>
            </a:xfrm>
            <a:custGeom>
              <a:avLst/>
              <a:gdLst/>
              <a:ahLst/>
              <a:cxnLst/>
              <a:rect r="r" b="b" t="t" l="l"/>
              <a:pathLst>
                <a:path h="736718" w="3710314">
                  <a:moveTo>
                    <a:pt x="15422" y="0"/>
                  </a:moveTo>
                  <a:lnTo>
                    <a:pt x="3694892" y="0"/>
                  </a:lnTo>
                  <a:cubicBezTo>
                    <a:pt x="3703409" y="0"/>
                    <a:pt x="3710314" y="6905"/>
                    <a:pt x="3710314" y="15422"/>
                  </a:cubicBezTo>
                  <a:lnTo>
                    <a:pt x="3710314" y="721296"/>
                  </a:lnTo>
                  <a:cubicBezTo>
                    <a:pt x="3710314" y="725386"/>
                    <a:pt x="3708689" y="729309"/>
                    <a:pt x="3705797" y="732201"/>
                  </a:cubicBezTo>
                  <a:cubicBezTo>
                    <a:pt x="3702905" y="735093"/>
                    <a:pt x="3698982" y="736718"/>
                    <a:pt x="3694892" y="736718"/>
                  </a:cubicBezTo>
                  <a:lnTo>
                    <a:pt x="15422" y="736718"/>
                  </a:lnTo>
                  <a:cubicBezTo>
                    <a:pt x="6905" y="736718"/>
                    <a:pt x="0" y="729813"/>
                    <a:pt x="0" y="721296"/>
                  </a:cubicBezTo>
                  <a:lnTo>
                    <a:pt x="0" y="15422"/>
                  </a:lnTo>
                  <a:cubicBezTo>
                    <a:pt x="0" y="6905"/>
                    <a:pt x="6905" y="0"/>
                    <a:pt x="15422" y="0"/>
                  </a:cubicBezTo>
                  <a:close/>
                </a:path>
              </a:pathLst>
            </a:custGeom>
            <a:solidFill>
              <a:srgbClr val="FFFFFF"/>
            </a:solidFill>
            <a:ln w="85725" cap="sq">
              <a:solidFill>
                <a:srgbClr val="074785"/>
              </a:solidFill>
              <a:prstDash val="solid"/>
              <a:miter/>
            </a:ln>
          </p:spPr>
        </p:sp>
        <p:sp>
          <p:nvSpPr>
            <p:cNvPr name="TextBox 5" id="5"/>
            <p:cNvSpPr txBox="true"/>
            <p:nvPr/>
          </p:nvSpPr>
          <p:spPr>
            <a:xfrm>
              <a:off x="0" y="-47625"/>
              <a:ext cx="3710314" cy="784343"/>
            </a:xfrm>
            <a:prstGeom prst="rect">
              <a:avLst/>
            </a:prstGeom>
          </p:spPr>
          <p:txBody>
            <a:bodyPr anchor="ctr" rtlCol="false" tIns="50800" lIns="50800" bIns="50800" rIns="50800"/>
            <a:lstStyle/>
            <a:p>
              <a:pPr algn="ctr">
                <a:lnSpc>
                  <a:spcPts val="3214"/>
                </a:lnSpc>
              </a:pPr>
            </a:p>
          </p:txBody>
        </p:sp>
      </p:grpSp>
      <p:sp>
        <p:nvSpPr>
          <p:cNvPr name="Freeform 6" id="6"/>
          <p:cNvSpPr/>
          <p:nvPr/>
        </p:nvSpPr>
        <p:spPr>
          <a:xfrm flipH="false" flipV="false" rot="1158074">
            <a:off x="14710464" y="7602030"/>
            <a:ext cx="3237773" cy="2606407"/>
          </a:xfrm>
          <a:custGeom>
            <a:avLst/>
            <a:gdLst/>
            <a:ahLst/>
            <a:cxnLst/>
            <a:rect r="r" b="b" t="t" l="l"/>
            <a:pathLst>
              <a:path h="2606407" w="3237773">
                <a:moveTo>
                  <a:pt x="0" y="0"/>
                </a:moveTo>
                <a:lnTo>
                  <a:pt x="3237773" y="0"/>
                </a:lnTo>
                <a:lnTo>
                  <a:pt x="3237773" y="2606407"/>
                </a:lnTo>
                <a:lnTo>
                  <a:pt x="0" y="26064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61301">
            <a:off x="68347" y="7592850"/>
            <a:ext cx="3152874" cy="2624767"/>
          </a:xfrm>
          <a:custGeom>
            <a:avLst/>
            <a:gdLst/>
            <a:ahLst/>
            <a:cxnLst/>
            <a:rect r="r" b="b" t="t" l="l"/>
            <a:pathLst>
              <a:path h="2624767" w="3152874">
                <a:moveTo>
                  <a:pt x="0" y="0"/>
                </a:moveTo>
                <a:lnTo>
                  <a:pt x="3152873" y="0"/>
                </a:lnTo>
                <a:lnTo>
                  <a:pt x="3152873" y="2624767"/>
                </a:lnTo>
                <a:lnTo>
                  <a:pt x="0" y="26247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150723" y="3760329"/>
            <a:ext cx="12344082" cy="3749040"/>
          </a:xfrm>
          <a:prstGeom prst="rect">
            <a:avLst/>
          </a:prstGeom>
        </p:spPr>
        <p:txBody>
          <a:bodyPr anchor="t" rtlCol="false" tIns="0" lIns="0" bIns="0" rIns="0">
            <a:spAutoFit/>
          </a:bodyPr>
          <a:lstStyle/>
          <a:p>
            <a:pPr algn="l">
              <a:lnSpc>
                <a:spcPts val="3359"/>
              </a:lnSpc>
            </a:pPr>
            <a:r>
              <a:rPr lang="en-US" sz="2399" spc="115">
                <a:solidFill>
                  <a:srgbClr val="074785"/>
                </a:solidFill>
                <a:latin typeface="Open Sans"/>
                <a:ea typeface="Open Sans"/>
                <a:cs typeface="Open Sans"/>
                <a:sym typeface="Open Sans"/>
              </a:rPr>
              <a:t>El presente proyecto aborda una problemática real y vigente en la industria de los videojuegos: la barrera del idioma como limitante de accesibilidad y experiencia de usuario.</a:t>
            </a:r>
          </a:p>
          <a:p>
            <a:pPr algn="l">
              <a:lnSpc>
                <a:spcPts val="3359"/>
              </a:lnSpc>
            </a:pPr>
          </a:p>
          <a:p>
            <a:pPr algn="l">
              <a:lnSpc>
                <a:spcPts val="3359"/>
              </a:lnSpc>
            </a:pPr>
            <a:r>
              <a:rPr lang="en-US" sz="2399" spc="115">
                <a:solidFill>
                  <a:srgbClr val="074785"/>
                </a:solidFill>
                <a:latin typeface="Open Sans"/>
                <a:ea typeface="Open Sans"/>
                <a:cs typeface="Open Sans"/>
                <a:sym typeface="Open Sans"/>
              </a:rPr>
              <a:t>Se presenta un proyecto de software de traducción de texto en tiempo real que propone una solución técnica viable que no depende de la localización oficial del videojuego, permitiendo ampliar el acceso a contenidos que, de otro modo, quedarían restringidos para jugadores hispanohablantes.</a:t>
            </a:r>
          </a:p>
          <a:p>
            <a:pPr algn="ctr">
              <a:lnSpc>
                <a:spcPts val="3359"/>
              </a:lnSpc>
            </a:pPr>
          </a:p>
        </p:txBody>
      </p:sp>
      <p:sp>
        <p:nvSpPr>
          <p:cNvPr name="TextBox 9" id="9"/>
          <p:cNvSpPr txBox="true"/>
          <p:nvPr/>
        </p:nvSpPr>
        <p:spPr>
          <a:xfrm rot="0">
            <a:off x="5709312" y="1575788"/>
            <a:ext cx="6869376" cy="1261500"/>
          </a:xfrm>
          <a:prstGeom prst="rect">
            <a:avLst/>
          </a:prstGeom>
        </p:spPr>
        <p:txBody>
          <a:bodyPr anchor="t" rtlCol="false" tIns="0" lIns="0" bIns="0" rIns="0">
            <a:spAutoFit/>
          </a:bodyPr>
          <a:lstStyle/>
          <a:p>
            <a:pPr algn="ctr" marL="0" indent="0" lvl="0">
              <a:lnSpc>
                <a:spcPts val="9499"/>
              </a:lnSpc>
              <a:spcBef>
                <a:spcPct val="0"/>
              </a:spcBef>
            </a:pPr>
            <a:r>
              <a:rPr lang="en-US" sz="8715" spc="87">
                <a:solidFill>
                  <a:srgbClr val="074785"/>
                </a:solidFill>
                <a:latin typeface="Sugo Display"/>
                <a:ea typeface="Sugo Display"/>
                <a:cs typeface="Sugo Display"/>
                <a:sym typeface="Sugo Display"/>
              </a:rPr>
              <a:t>Conclusión</a:t>
            </a:r>
          </a:p>
        </p:txBody>
      </p:sp>
      <p:sp>
        <p:nvSpPr>
          <p:cNvPr name="Freeform 10" id="10"/>
          <p:cNvSpPr/>
          <p:nvPr/>
        </p:nvSpPr>
        <p:spPr>
          <a:xfrm flipH="true" flipV="false" rot="0">
            <a:off x="16009947" y="387432"/>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39438" y="7224615"/>
            <a:ext cx="19166877" cy="7732981"/>
            <a:chOff x="0" y="0"/>
            <a:chExt cx="5048066" cy="2036670"/>
          </a:xfrm>
        </p:grpSpPr>
        <p:sp>
          <p:nvSpPr>
            <p:cNvPr name="Freeform 3" id="3"/>
            <p:cNvSpPr/>
            <p:nvPr/>
          </p:nvSpPr>
          <p:spPr>
            <a:xfrm flipH="false" flipV="false" rot="0">
              <a:off x="0" y="0"/>
              <a:ext cx="5048066" cy="2036670"/>
            </a:xfrm>
            <a:custGeom>
              <a:avLst/>
              <a:gdLst/>
              <a:ahLst/>
              <a:cxnLst/>
              <a:rect r="r" b="b" t="t" l="l"/>
              <a:pathLst>
                <a:path h="2036670" w="5048066">
                  <a:moveTo>
                    <a:pt x="8886" y="0"/>
                  </a:moveTo>
                  <a:lnTo>
                    <a:pt x="5039180" y="0"/>
                  </a:lnTo>
                  <a:cubicBezTo>
                    <a:pt x="5041537" y="0"/>
                    <a:pt x="5043797" y="936"/>
                    <a:pt x="5045464" y="2603"/>
                  </a:cubicBezTo>
                  <a:cubicBezTo>
                    <a:pt x="5047130" y="4269"/>
                    <a:pt x="5048066" y="6529"/>
                    <a:pt x="5048066" y="8886"/>
                  </a:cubicBezTo>
                  <a:lnTo>
                    <a:pt x="5048066" y="2027784"/>
                  </a:lnTo>
                  <a:cubicBezTo>
                    <a:pt x="5048066" y="2032691"/>
                    <a:pt x="5044088" y="2036670"/>
                    <a:pt x="5039180" y="2036670"/>
                  </a:cubicBezTo>
                  <a:lnTo>
                    <a:pt x="8886" y="2036670"/>
                  </a:lnTo>
                  <a:cubicBezTo>
                    <a:pt x="3979" y="2036670"/>
                    <a:pt x="0" y="2032691"/>
                    <a:pt x="0" y="2027784"/>
                  </a:cubicBezTo>
                  <a:lnTo>
                    <a:pt x="0" y="8886"/>
                  </a:lnTo>
                  <a:cubicBezTo>
                    <a:pt x="0" y="3979"/>
                    <a:pt x="3979" y="0"/>
                    <a:pt x="8886" y="0"/>
                  </a:cubicBezTo>
                  <a:close/>
                </a:path>
              </a:pathLst>
            </a:custGeom>
            <a:solidFill>
              <a:srgbClr val="B0E7FF"/>
            </a:solidFill>
            <a:ln w="66675" cap="rnd">
              <a:solidFill>
                <a:srgbClr val="074785"/>
              </a:solidFill>
              <a:prstDash val="solid"/>
              <a:round/>
            </a:ln>
          </p:spPr>
        </p:sp>
        <p:sp>
          <p:nvSpPr>
            <p:cNvPr name="TextBox 4" id="4"/>
            <p:cNvSpPr txBox="true"/>
            <p:nvPr/>
          </p:nvSpPr>
          <p:spPr>
            <a:xfrm>
              <a:off x="0" y="-47625"/>
              <a:ext cx="5048066" cy="2084295"/>
            </a:xfrm>
            <a:prstGeom prst="rect">
              <a:avLst/>
            </a:prstGeom>
          </p:spPr>
          <p:txBody>
            <a:bodyPr anchor="ctr" rtlCol="false" tIns="50800" lIns="50800" bIns="50800" rIns="50800"/>
            <a:lstStyle/>
            <a:p>
              <a:pPr algn="ctr">
                <a:lnSpc>
                  <a:spcPts val="3214"/>
                </a:lnSpc>
              </a:pPr>
            </a:p>
          </p:txBody>
        </p:sp>
      </p:grpSp>
      <p:sp>
        <p:nvSpPr>
          <p:cNvPr name="Freeform 5" id="5"/>
          <p:cNvSpPr/>
          <p:nvPr/>
        </p:nvSpPr>
        <p:spPr>
          <a:xfrm flipH="false" flipV="false" rot="0">
            <a:off x="2838430" y="1254118"/>
            <a:ext cx="12611141" cy="7424809"/>
          </a:xfrm>
          <a:custGeom>
            <a:avLst/>
            <a:gdLst/>
            <a:ahLst/>
            <a:cxnLst/>
            <a:rect r="r" b="b" t="t" l="l"/>
            <a:pathLst>
              <a:path h="7424809" w="12611141">
                <a:moveTo>
                  <a:pt x="0" y="0"/>
                </a:moveTo>
                <a:lnTo>
                  <a:pt x="12611140" y="0"/>
                </a:lnTo>
                <a:lnTo>
                  <a:pt x="12611140" y="7424809"/>
                </a:lnTo>
                <a:lnTo>
                  <a:pt x="0" y="74248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588185">
            <a:off x="14742479" y="6871408"/>
            <a:ext cx="3459952" cy="3481713"/>
          </a:xfrm>
          <a:custGeom>
            <a:avLst/>
            <a:gdLst/>
            <a:ahLst/>
            <a:cxnLst/>
            <a:rect r="r" b="b" t="t" l="l"/>
            <a:pathLst>
              <a:path h="3481713" w="3459952">
                <a:moveTo>
                  <a:pt x="0" y="0"/>
                </a:moveTo>
                <a:lnTo>
                  <a:pt x="3459952" y="0"/>
                </a:lnTo>
                <a:lnTo>
                  <a:pt x="3459952" y="3481713"/>
                </a:lnTo>
                <a:lnTo>
                  <a:pt x="0" y="34817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1079979">
            <a:off x="702661" y="6513381"/>
            <a:ext cx="3291772" cy="4171200"/>
          </a:xfrm>
          <a:custGeom>
            <a:avLst/>
            <a:gdLst/>
            <a:ahLst/>
            <a:cxnLst/>
            <a:rect r="r" b="b" t="t" l="l"/>
            <a:pathLst>
              <a:path h="4171200" w="3291772">
                <a:moveTo>
                  <a:pt x="3291771" y="0"/>
                </a:moveTo>
                <a:lnTo>
                  <a:pt x="0" y="0"/>
                </a:lnTo>
                <a:lnTo>
                  <a:pt x="0" y="4171200"/>
                </a:lnTo>
                <a:lnTo>
                  <a:pt x="3291771" y="4171200"/>
                </a:lnTo>
                <a:lnTo>
                  <a:pt x="329177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696953" y="3209355"/>
            <a:ext cx="12664855" cy="2190016"/>
          </a:xfrm>
          <a:prstGeom prst="rect">
            <a:avLst/>
          </a:prstGeom>
        </p:spPr>
        <p:txBody>
          <a:bodyPr anchor="t" rtlCol="false" tIns="0" lIns="0" bIns="0" rIns="0">
            <a:spAutoFit/>
          </a:bodyPr>
          <a:lstStyle/>
          <a:p>
            <a:pPr algn="ctr" marL="0" indent="0" lvl="0">
              <a:lnSpc>
                <a:spcPts val="16590"/>
              </a:lnSpc>
              <a:spcBef>
                <a:spcPct val="0"/>
              </a:spcBef>
            </a:pPr>
            <a:r>
              <a:rPr lang="en-US" sz="15220" spc="152">
                <a:solidFill>
                  <a:srgbClr val="074785"/>
                </a:solidFill>
                <a:latin typeface="Sugo Display"/>
                <a:ea typeface="Sugo Display"/>
                <a:cs typeface="Sugo Display"/>
                <a:sym typeface="Sugo Display"/>
              </a:rPr>
              <a:t>Muchas Gracias!</a:t>
            </a:r>
          </a:p>
        </p:txBody>
      </p:sp>
      <p:sp>
        <p:nvSpPr>
          <p:cNvPr name="TextBox 9" id="9"/>
          <p:cNvSpPr txBox="true"/>
          <p:nvPr/>
        </p:nvSpPr>
        <p:spPr>
          <a:xfrm rot="0">
            <a:off x="3816664" y="5973507"/>
            <a:ext cx="10654672" cy="629587"/>
          </a:xfrm>
          <a:prstGeom prst="rect">
            <a:avLst/>
          </a:prstGeom>
        </p:spPr>
        <p:txBody>
          <a:bodyPr anchor="t" rtlCol="false" tIns="0" lIns="0" bIns="0" rIns="0">
            <a:spAutoFit/>
          </a:bodyPr>
          <a:lstStyle/>
          <a:p>
            <a:pPr algn="ctr">
              <a:lnSpc>
                <a:spcPts val="5331"/>
              </a:lnSpc>
            </a:pPr>
            <a:r>
              <a:rPr lang="en-US" sz="3290" spc="157">
                <a:solidFill>
                  <a:srgbClr val="074785"/>
                </a:solidFill>
                <a:latin typeface="Open Sans"/>
                <a:ea typeface="Open Sans"/>
                <a:cs typeface="Open Sans"/>
                <a:sym typeface="Open Sans"/>
              </a:rPr>
              <a:t>Aceptamos preguntas que estimen pertinentes!</a:t>
            </a:r>
          </a:p>
        </p:txBody>
      </p:sp>
      <p:sp>
        <p:nvSpPr>
          <p:cNvPr name="Freeform 10" id="10"/>
          <p:cNvSpPr/>
          <p:nvPr/>
        </p:nvSpPr>
        <p:spPr>
          <a:xfrm flipH="true" flipV="false" rot="0">
            <a:off x="16472455" y="595357"/>
            <a:ext cx="1341101" cy="866686"/>
          </a:xfrm>
          <a:custGeom>
            <a:avLst/>
            <a:gdLst/>
            <a:ahLst/>
            <a:cxnLst/>
            <a:rect r="r" b="b" t="t" l="l"/>
            <a:pathLst>
              <a:path h="866686" w="1341101">
                <a:moveTo>
                  <a:pt x="1341101" y="0"/>
                </a:moveTo>
                <a:lnTo>
                  <a:pt x="0" y="0"/>
                </a:lnTo>
                <a:lnTo>
                  <a:pt x="0" y="866686"/>
                </a:lnTo>
                <a:lnTo>
                  <a:pt x="1341101" y="866686"/>
                </a:lnTo>
                <a:lnTo>
                  <a:pt x="1341101"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1" id="11"/>
          <p:cNvSpPr/>
          <p:nvPr/>
        </p:nvSpPr>
        <p:spPr>
          <a:xfrm flipH="false" flipV="false" rot="0">
            <a:off x="625771" y="595357"/>
            <a:ext cx="1341101" cy="866686"/>
          </a:xfrm>
          <a:custGeom>
            <a:avLst/>
            <a:gdLst/>
            <a:ahLst/>
            <a:cxnLst/>
            <a:rect r="r" b="b" t="t" l="l"/>
            <a:pathLst>
              <a:path h="866686" w="1341101">
                <a:moveTo>
                  <a:pt x="0" y="0"/>
                </a:moveTo>
                <a:lnTo>
                  <a:pt x="1341101" y="0"/>
                </a:lnTo>
                <a:lnTo>
                  <a:pt x="1341101" y="866686"/>
                </a:lnTo>
                <a:lnTo>
                  <a:pt x="0" y="8666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2" id="12"/>
          <p:cNvSpPr/>
          <p:nvPr/>
        </p:nvSpPr>
        <p:spPr>
          <a:xfrm flipH="false" flipV="false" rot="0">
            <a:off x="12080412" y="8882028"/>
            <a:ext cx="1367180" cy="1064691"/>
          </a:xfrm>
          <a:custGeom>
            <a:avLst/>
            <a:gdLst/>
            <a:ahLst/>
            <a:cxnLst/>
            <a:rect r="r" b="b" t="t" l="l"/>
            <a:pathLst>
              <a:path h="1064691" w="1367180">
                <a:moveTo>
                  <a:pt x="0" y="0"/>
                </a:moveTo>
                <a:lnTo>
                  <a:pt x="1367180" y="0"/>
                </a:lnTo>
                <a:lnTo>
                  <a:pt x="1367180" y="1064691"/>
                </a:lnTo>
                <a:lnTo>
                  <a:pt x="0" y="10646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104738" y="8852367"/>
            <a:ext cx="809289" cy="1124012"/>
          </a:xfrm>
          <a:custGeom>
            <a:avLst/>
            <a:gdLst/>
            <a:ahLst/>
            <a:cxnLst/>
            <a:rect r="r" b="b" t="t" l="l"/>
            <a:pathLst>
              <a:path h="1124012" w="809289">
                <a:moveTo>
                  <a:pt x="0" y="0"/>
                </a:moveTo>
                <a:lnTo>
                  <a:pt x="809288" y="0"/>
                </a:lnTo>
                <a:lnTo>
                  <a:pt x="809288" y="1124012"/>
                </a:lnTo>
                <a:lnTo>
                  <a:pt x="0" y="11240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true" flipV="false" rot="0">
            <a:off x="15801905" y="4533180"/>
            <a:ext cx="1341101" cy="866686"/>
          </a:xfrm>
          <a:custGeom>
            <a:avLst/>
            <a:gdLst/>
            <a:ahLst/>
            <a:cxnLst/>
            <a:rect r="r" b="b" t="t" l="l"/>
            <a:pathLst>
              <a:path h="866686" w="1341101">
                <a:moveTo>
                  <a:pt x="1341100" y="0"/>
                </a:moveTo>
                <a:lnTo>
                  <a:pt x="0" y="0"/>
                </a:lnTo>
                <a:lnTo>
                  <a:pt x="0" y="866686"/>
                </a:lnTo>
                <a:lnTo>
                  <a:pt x="1341100" y="866686"/>
                </a:lnTo>
                <a:lnTo>
                  <a:pt x="134110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0">
            <a:off x="9258619" y="8852367"/>
            <a:ext cx="1113097" cy="1170141"/>
          </a:xfrm>
          <a:custGeom>
            <a:avLst/>
            <a:gdLst/>
            <a:ahLst/>
            <a:cxnLst/>
            <a:rect r="r" b="b" t="t" l="l"/>
            <a:pathLst>
              <a:path h="1170141" w="1113097">
                <a:moveTo>
                  <a:pt x="0" y="0"/>
                </a:moveTo>
                <a:lnTo>
                  <a:pt x="1113097" y="0"/>
                </a:lnTo>
                <a:lnTo>
                  <a:pt x="1113097" y="1170141"/>
                </a:lnTo>
                <a:lnTo>
                  <a:pt x="0" y="11701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DAG-RLVwc9w</dc:identifier>
  <dcterms:modified xsi:type="dcterms:W3CDTF">2011-08-01T06:04:30Z</dcterms:modified>
  <cp:revision>1</cp:revision>
  <dc:title>Presentación historia de los videojuegos divertido retro celeste</dc:title>
</cp:coreProperties>
</file>